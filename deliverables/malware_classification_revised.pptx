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90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3" r:id="rId14"/>
    <p:sldId id="267" r:id="rId15"/>
    <p:sldId id="268" r:id="rId16"/>
    <p:sldId id="269" r:id="rId1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9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901.xlsx"/>
</Relationships>
</file>

<file path=ppt/charts/_rels/chart10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001.xlsx"/>
</Relationships>
</file>

<file path=ppt/charts/chart9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HOG + SVM</c:v>
                </c:pt>
              </c:strCache>
            </c:strRef>
          </c:tx>
          <c:spPr>
            <a:solidFill>
              <a:srgbClr val="8C9AA8"/>
            </a:solidFill>
            <a:ln>
              <a:solidFill>
                <a:srgbClr val="8C9AA8"/>
              </a:solidFill>
            </a:ln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lang="zh-CN" sz="100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Accuracy</c:v>
                </c:pt>
                <c:pt idx="1">
                  <c:v>Macro-F1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0.9675</c:v>
                </c:pt>
                <c:pt idx="1">
                  <c:v>0.9266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ResNet18 + 分类层</c:v>
                </c:pt>
              </c:strCache>
            </c:strRef>
          </c:tx>
          <c:spPr>
            <a:solidFill>
              <a:srgbClr val="24466B"/>
            </a:solidFill>
            <a:ln>
              <a:solidFill>
                <a:srgbClr val="24466B"/>
              </a:solidFill>
            </a:ln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lang="zh-CN" sz="100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Accuracy</c:v>
                </c:pt>
                <c:pt idx="1">
                  <c:v>Macro-F1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0.9825</c:v>
                </c:pt>
                <c:pt idx="1">
                  <c:v>0.9561</c:v>
                </c:pt>
              </c:numCache>
            </c:numRef>
          </c:val>
        </c:ser>
        <c:dLbls>
          <c:txPr>
            <a:bodyPr/>
            <a:lstStyle/>
            <a:p>
              <a:pPr>
                <a:defRPr lang="zh-CN" sz="900">
                  <a:solidFill>
                    <a:srgbClr val="404040"/>
                  </a:solidFill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404040"/>
            </a:solidFill>
            <a:round/>
          </a:ln>
        </c:spPr>
        <c:txPr>
          <a:bodyPr/>
          <a:lstStyle/>
          <a:p>
            <a:pPr>
              <a:defRPr lang="zh-CN" sz="900">
                <a:solidFill>
                  <a:srgbClr val="404040"/>
                </a:solidFill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9525" cap="flat" cmpd="sng" algn="ctr">
            <a:solidFill>
              <a:srgbClr val="404040"/>
            </a:solidFill>
            <a:round/>
          </a:ln>
        </c:spPr>
        <c:txPr>
          <a:bodyPr/>
          <a:lstStyle/>
          <a:p>
            <a:pPr>
              <a:defRPr lang="zh-CN" sz="900">
                <a:solidFill>
                  <a:srgbClr val="404040"/>
                </a:solidFill>
              </a:defRPr>
            </a:pPr>
            <a:endParaRPr lang="zh-CN"/>
          </a:p>
        </c:txPr>
        <c:crossAx val="2068027336"/>
        <c:crosses val="autoZero"/>
        <c:crossBetween val="between"/>
        <c:majorUnit val="0.25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lang="zh-CN" sz="900">
              <a:solidFill>
                <a:srgbClr val="404040"/>
              </a:solidFill>
            </a:defRPr>
          </a:pPr>
          <a:endParaRPr lang="zh-CN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CN" sz="900">
          <a:solidFill>
            <a:srgbClr val="404040"/>
          </a:solidFill>
        </a:defRPr>
      </a:pPr>
      <a:endParaRPr lang="zh-CN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验证集 Macro-F1</c:v>
                </c:pt>
              </c:strCache>
            </c:strRef>
          </c:tx>
          <c:spPr>
            <a:solidFill>
              <a:srgbClr val="24466B"/>
            </a:solidFill>
            <a:ln>
              <a:solidFill>
                <a:srgbClr val="24466B"/>
              </a:solidFill>
            </a:ln>
          </c:spPr>
          <c:marker>
            <c:symbol val="none"/>
          </c:marker>
          <c:cat>
            <c:strRef>
              <c:f>Sheet1!$A$2:$A$69</c:f>
              <c:strCache>
                <c:ptCount val="6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</c:strCache>
            </c:strRef>
          </c:cat>
          <c:val>
            <c:numRef>
              <c:f>Sheet1!$B$2:$B$69</c:f>
              <c:numCache>
                <c:formatCode>General</c:formatCode>
                <c:ptCount val="68"/>
                <c:pt idx="0">
                  <c:v>0.88005587</c:v>
                </c:pt>
                <c:pt idx="1">
                  <c:v>0.91437596</c:v>
                </c:pt>
                <c:pt idx="2">
                  <c:v>0.92419881</c:v>
                </c:pt>
                <c:pt idx="3">
                  <c:v>0.92788964</c:v>
                </c:pt>
                <c:pt idx="4">
                  <c:v>0.93375973</c:v>
                </c:pt>
                <c:pt idx="5">
                  <c:v>0.94379907</c:v>
                </c:pt>
                <c:pt idx="6">
                  <c:v>0.93185917</c:v>
                </c:pt>
                <c:pt idx="7">
                  <c:v>0.94088603</c:v>
                </c:pt>
                <c:pt idx="8">
                  <c:v>0.94183909</c:v>
                </c:pt>
                <c:pt idx="9">
                  <c:v>0.94124655</c:v>
                </c:pt>
                <c:pt idx="10">
                  <c:v>0.95795124</c:v>
                </c:pt>
                <c:pt idx="11">
                  <c:v>0.94211676</c:v>
                </c:pt>
                <c:pt idx="12">
                  <c:v>0.95934907</c:v>
                </c:pt>
                <c:pt idx="13">
                  <c:v>0.94984964</c:v>
                </c:pt>
                <c:pt idx="14">
                  <c:v>0.9427518</c:v>
                </c:pt>
                <c:pt idx="15">
                  <c:v>0.95094188</c:v>
                </c:pt>
                <c:pt idx="16">
                  <c:v>0.94863816</c:v>
                </c:pt>
                <c:pt idx="17">
                  <c:v>0.94925768</c:v>
                </c:pt>
                <c:pt idx="18">
                  <c:v>0.95152906</c:v>
                </c:pt>
                <c:pt idx="19">
                  <c:v>0.94150649</c:v>
                </c:pt>
                <c:pt idx="20">
                  <c:v>0.96655067</c:v>
                </c:pt>
                <c:pt idx="21">
                  <c:v>0.94198633</c:v>
                </c:pt>
                <c:pt idx="22">
                  <c:v>0.96844117</c:v>
                </c:pt>
                <c:pt idx="23">
                  <c:v>0.96875135</c:v>
                </c:pt>
                <c:pt idx="24">
                  <c:v>0.96868059</c:v>
                </c:pt>
                <c:pt idx="25">
                  <c:v>0.95797101</c:v>
                </c:pt>
                <c:pt idx="26">
                  <c:v>0.95725826</c:v>
                </c:pt>
                <c:pt idx="27">
                  <c:v>0.96658935</c:v>
                </c:pt>
                <c:pt idx="28">
                  <c:v>0.96558509</c:v>
                </c:pt>
                <c:pt idx="29">
                  <c:v>0.9581522</c:v>
                </c:pt>
                <c:pt idx="30">
                  <c:v>0.96081155</c:v>
                </c:pt>
                <c:pt idx="31">
                  <c:v>0.96454664</c:v>
                </c:pt>
                <c:pt idx="32">
                  <c:v>0.96603042</c:v>
                </c:pt>
                <c:pt idx="33">
                  <c:v>0.96169648</c:v>
                </c:pt>
                <c:pt idx="34">
                  <c:v>0.97095411</c:v>
                </c:pt>
                <c:pt idx="35">
                  <c:v>0.96875135</c:v>
                </c:pt>
                <c:pt idx="36">
                  <c:v>0.96314128</c:v>
                </c:pt>
                <c:pt idx="37">
                  <c:v>0.9652022</c:v>
                </c:pt>
                <c:pt idx="38">
                  <c:v>0.96251126</c:v>
                </c:pt>
                <c:pt idx="39">
                  <c:v>0.96723019</c:v>
                </c:pt>
                <c:pt idx="40">
                  <c:v>0.96599057</c:v>
                </c:pt>
                <c:pt idx="41">
                  <c:v>0.96836136</c:v>
                </c:pt>
                <c:pt idx="42">
                  <c:v>0.95921833</c:v>
                </c:pt>
                <c:pt idx="43">
                  <c:v>0.96815795</c:v>
                </c:pt>
                <c:pt idx="44">
                  <c:v>0.96723019</c:v>
                </c:pt>
                <c:pt idx="45">
                  <c:v>0.96647763</c:v>
                </c:pt>
                <c:pt idx="46">
                  <c:v>0.96664906</c:v>
                </c:pt>
                <c:pt idx="47">
                  <c:v>0.97123836</c:v>
                </c:pt>
                <c:pt idx="48">
                  <c:v>0.96439014</c:v>
                </c:pt>
                <c:pt idx="49">
                  <c:v>0.96723019</c:v>
                </c:pt>
                <c:pt idx="50">
                  <c:v>0.96104422</c:v>
                </c:pt>
                <c:pt idx="51">
                  <c:v>0.96643165</c:v>
                </c:pt>
                <c:pt idx="52">
                  <c:v>0.9688577</c:v>
                </c:pt>
                <c:pt idx="53">
                  <c:v>0.9689441</c:v>
                </c:pt>
                <c:pt idx="54">
                  <c:v>0.96220281</c:v>
                </c:pt>
                <c:pt idx="55">
                  <c:v>0.96895809</c:v>
                </c:pt>
                <c:pt idx="56">
                  <c:v>0.9688577</c:v>
                </c:pt>
                <c:pt idx="57">
                  <c:v>0.97065925</c:v>
                </c:pt>
                <c:pt idx="58">
                  <c:v>0.96944469</c:v>
                </c:pt>
                <c:pt idx="59">
                  <c:v>0.9692488</c:v>
                </c:pt>
                <c:pt idx="60">
                  <c:v>0.96220281</c:v>
                </c:pt>
                <c:pt idx="61">
                  <c:v>0.96836136</c:v>
                </c:pt>
                <c:pt idx="62">
                  <c:v>0.96954791</c:v>
                </c:pt>
                <c:pt idx="63">
                  <c:v>0.97069092</c:v>
                </c:pt>
                <c:pt idx="64">
                  <c:v>0.96667872</c:v>
                </c:pt>
                <c:pt idx="65">
                  <c:v>0.96815795</c:v>
                </c:pt>
                <c:pt idx="66">
                  <c:v>0.96815795</c:v>
                </c:pt>
                <c:pt idx="67">
                  <c:v>0.9705704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/>
                <a:r>
                  <a:rPr lang="zh-CN" sz="900">
                    <a:solidFill>
                      <a:srgbClr val="404040"/>
                    </a:solidFill>
                  </a:rPr>
                  <a:t>训练轮次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404040"/>
            </a:solidFill>
            <a:round/>
          </a:ln>
        </c:spPr>
        <c:txPr>
          <a:bodyPr/>
          <a:lstStyle/>
          <a:p>
            <a:pPr>
              <a:defRPr lang="zh-CN" sz="900">
                <a:solidFill>
                  <a:srgbClr val="404040"/>
                </a:solidFill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"/>
          <c:min val="0.86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9525" cap="flat" cmpd="sng" algn="ctr">
            <a:solidFill>
              <a:srgbClr val="404040"/>
            </a:solidFill>
            <a:round/>
          </a:ln>
        </c:spPr>
        <c:txPr>
          <a:bodyPr/>
          <a:lstStyle/>
          <a:p>
            <a:pPr>
              <a:defRPr lang="zh-CN" sz="900">
                <a:solidFill>
                  <a:srgbClr val="404040"/>
                </a:solidFill>
              </a:defRPr>
            </a:pPr>
            <a:endParaRPr lang="zh-CN"/>
          </a:p>
        </c:txPr>
        <c:crossAx val="2068027336"/>
        <c:crosses val="autoZero"/>
        <c:crossBetween val="between"/>
        <c:majorUnit val="0.0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900">
          <a:solidFill>
            <a:srgbClr val="404040"/>
          </a:solidFill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老师好，这次作业的题目是基于灰度图的恶意软件家族分类。实验分成两部分：先验证文件能否转换成灰度图，再用公开的 Malimg 图像数据比较两种分类方法。第一种是 HOG 特征加线性 SVM，第二种是预训练 ResNet18 加一个新分类层。汇报会重点说明数据处理、实验设置和实际成绩。</a:t>
            </a:r>
          </a:p>
          <a:p/>
          <a:p>
            <a:r>
              <a:t>资料来源</a:t>
            </a:r>
          </a:p>
          <a:p>
            <a:r>
              <a:t>malware_image_homework/results/dataset_info.json</a:t>
            </a:r>
          </a:p>
          <a:p>
            <a:r>
              <a:t>malware_image_homework/results/svm_metrics.json</a:t>
            </a:r>
          </a:p>
          <a:p>
            <a:r>
              <a:t>malware_image_homework/results/resnet_metrics.json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题图要求先完成软件到灰度图，再找公开数据集做分类。本次转换程序读入文件字节，输出 PNG 和长度、哈希等信息。分类部分使用公开的 Malimg 灰度图，完成清洗、划分、训练、测试和单张图片预测。两种模型使用同一份划分。这里的输出是已知恶意软件家族标签，因为数据中没有正常软件类别。</a:t>
            </a:r>
          </a:p>
          <a:p/>
          <a:p>
            <a:r>
              <a:t>资料来源</a:t>
            </a:r>
          </a:p>
          <a:p>
            <a:r>
              <a:t>用户提供的作业题图</a:t>
            </a:r>
          </a:p>
          <a:p>
            <a:r>
              <a:t>malware_image_homework/README.md</a:t>
            </a:r>
          </a:p>
          <a:p>
            <a:r>
              <a:t>malware_image_homework/results/verification.json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一个字节的值是 0 到 255，正好对应灰度像素的亮度。读取文件之后，保持字节顺序，把它们按指定宽度逐行排列。图像高度等于字节数除以宽度向上取整，末行不足时补零。本次人工输入有 10000 字节，宽度设为 100，因此得到 100 乘 100 图像。保存 PNG 和原始长度，可以从未缩放的图片中恢复字节。这个示例只演示转换，不属于恶意样本。</a:t>
            </a:r>
          </a:p>
          <a:p/>
          <a:p>
            <a:r>
              <a:t>资料来源</a:t>
            </a:r>
          </a:p>
          <a:p>
            <a:r>
              <a:t>malware_image_homework/src/binary_to_image.py</a:t>
            </a:r>
          </a:p>
          <a:p>
            <a:r>
              <a:t>malware_image_homework/results/conversion_verification.json</a:t>
            </a:r>
          </a:p>
          <a:p>
            <a:r>
              <a:t>malware_image_homework/examples/demo_bytes.json</a:t>
            </a:r>
          </a:p>
          <a:p>
            <a:br/>
            <a:r>
              <a:t>依据实验报告第1节：JSON记录原始长度、补零数量及哈希。PNG无损与训练缩放是两个不同环节。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程序的核心是 read_bytes、NumPy 的 uint8 数组和 reshape。它还检查宽度、输入非空和 PNG 后缀，并保存长度、补零量与 SHA256。本次用了正常 Python 解释器做实际转换：104952 字节，宽度 256，高度 410，补零 8 字节。验证时重新读取 PNG 像素，取前 104952 字节，比较得到的内容和原文件，哈希一致。这个测试说明转换保持了字节顺序，输入文件没有被执行。</a:t>
            </a:r>
          </a:p>
          <a:p/>
          <a:p>
            <a:r>
              <a:t>资料来源</a:t>
            </a:r>
          </a:p>
          <a:p>
            <a:r>
              <a:t>malware_image_homework/src/binary_to_image.py</a:t>
            </a:r>
          </a:p>
          <a:p>
            <a:r>
              <a:t>malware_image_homework/results/conversion_verification.json</a:t>
            </a:r>
          </a:p>
          <a:p>
            <a:r>
              <a:t>malware_image_homework/examples/benign_python_interpreter.json</a:t>
            </a:r>
          </a:p>
          <a:p>
            <a:br/>
            <a:r>
              <a:t>依据实验报告第1节：另完成BIG 2015文本解析检查，跳过地址并将??替换为0。该检查不代表使用BIG 2015开展了分类实验。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Malimg 已提供灰度图片和家族标签，本次下载的公开流通版本共有 9339 张、25 个家族。本次使用的是图像数据，没有获取或运行原始恶意程序，文件转图像功能由前面的正常文件测试单独验证。样本分布并不均衡，例如 Allaple.A 有 2949 张，Skintrim.N 只有 80 张。所以除了总体准确率，也需要看各家族等权平均的 Macro F1。右侧是四个家族的真实预处理输入。</a:t>
            </a:r>
          </a:p>
          <a:p/>
          <a:p>
            <a:r>
              <a:t>资料来源</a:t>
            </a:r>
          </a:p>
          <a:p>
            <a:r>
              <a:t>malware_image_homework/results/dataset_info.json</a:t>
            </a:r>
          </a:p>
          <a:p>
            <a:r>
              <a:t>https://www.dropbox.com/s/ep8qjakfwh1rzk4/malimg_dataset.zip?dl=1</a:t>
            </a:r>
          </a:p>
          <a:p>
            <a:r>
              <a:t>work/ppt_build/assets/sample_sources.json</a:t>
            </a:r>
          </a:p>
          <a:p>
            <a:br/>
            <a:r>
              <a:t>依据实验报告第2节。下载源为Dropbox公开镜像，不声称已核实为作者官方发布源。来源：https://www.dropbox.com/s/ep8qjakfwh1rzk4/malimg_dataset.zip?dl=1。SHA256：9766ae9f1daa520e367fb486ca94728fe1485c0f5cb8314c312d77089a1fe9ec。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如果相同输入同时出现在训练和测试中，测试成绩可能偏高。所以先统一预处理，再按最终像素内容去重，之后才划分。共去掉 1337 个重复输入。Yuner.A 的 800 张原始图只有一种独立内容，Autorun.K 缩放到 HOG 输入后只有两种独立内容，无法分别分配到三个集合，剩下的 3 个输入也被排除。最终使用 7999 张、23 类。本次同时检查 128 和 224 尺寸，没有跨集合的相同输入。</a:t>
            </a:r>
          </a:p>
          <a:p/>
          <a:p>
            <a:r>
              <a:t>资料来源</a:t>
            </a:r>
          </a:p>
          <a:p>
            <a:r>
              <a:t>malware_image_homework/results/dataset_info.json</a:t>
            </a:r>
          </a:p>
          <a:p>
            <a:r>
              <a:t>malware_image_homework/results/removed_samples.json</a:t>
            </a:r>
          </a:p>
          <a:p>
            <a:r>
              <a:t>malware_image_homework/results/verification.json</a:t>
            </a:r>
          </a:p>
          <a:p>
            <a:r>
              <a:t>malware_image_homework/src/prepare_data.py</a:t>
            </a:r>
          </a:p>
          <a:p>
            <a:br/>
            <a:r>
              <a:t>依据实验报告第2节。Yuner.A的800张原图只有1个不同原始灰度像素内容，却有133个不同PNG文件哈希，说明只按文件哈希去重会遗漏重复。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清洗后按家族比例随机划分，种子固定为 20261008。训练集 5599 张，验证集和测试集各 1200 张。两种方法共用同一份标签和划分。StandardScaler 只拟合训练特征，再用于验证与测试。SVM 用验证集选择 C，ResNet 分类层用验证集选择轮次。检查结果显示 128 和 224 输入在三个集合间没有完全相同的内容，标签与样本清单对应，测试指标也能从预测记录重新计算。</a:t>
            </a:r>
          </a:p>
          <a:p/>
          <a:p>
            <a:r>
              <a:t>资料来源</a:t>
            </a:r>
          </a:p>
          <a:p>
            <a:r>
              <a:t>malware_image_homework/results/dataset_info.json</a:t>
            </a:r>
          </a:p>
          <a:p>
            <a:r>
              <a:t>malware_image_homework/results/verification.json</a:t>
            </a:r>
          </a:p>
          <a:p>
            <a:r>
              <a:t>malware_image_homework/results/class_split_counts.csv</a:t>
            </a:r>
          </a:p>
          <a:p>
            <a:br/>
            <a:r>
              <a:t>依据实验报告第2、4、9节。测试标签未参与权重计算、参数选择或早停。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第二种方法利用 ImageNet 预训练 ResNet18。灰度图片缩放到 224，复制为 RGB 三个通道，再按 ImageNet 的均值和标准差做归一化。骨干网络保持固定，并在 eval 模式下提取 512 维特征。新分类层把特征映射为 23 个家族。只训练这个 Linear 层，使用 AdamW、加权交叉熵和批量 128。本次在 CPU 上运行，冻结骨干并缓存特征可以减少重复计算。这样可以完成迁移学习实验，不需要从零训练整张网络。</a:t>
            </a:r>
          </a:p>
          <a:p/>
          <a:p>
            <a:r>
              <a:t>资料来源</a:t>
            </a:r>
          </a:p>
          <a:p>
            <a:r>
              <a:t>malware_image_homework/src/resnet.py</a:t>
            </a:r>
          </a:p>
          <a:p>
            <a:r>
              <a:t>malware_image_homework/src/train.py</a:t>
            </a:r>
          </a:p>
          <a:p>
            <a:r>
              <a:t>malware_image_homework/results/pretrained_weights.json</a:t>
            </a:r>
          </a:p>
          <a:p>
            <a:r>
              <a:t>malware_image_homework/results/resnet_metrics.json</a:t>
            </a:r>
          </a:p>
          <a:p>
            <a:br/>
            <a:r>
              <a:t>依据实验报告第4节。分类层采用加权交叉熵；输入为字节灰度图，不包含动态轨迹或直接可解释的API调用序列。移除报告正文未记载的batch size。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两种模型都在同一份 1200 张测试图上评估。HOG 加 SVM 正确 1161 张，准确率 96.75%，Macro F1 约 0.9266。冻结 ResNet18 加分类层正确 1179 张，准确率 98.25%，Macro F1 约 0.9561。它多判对了 18 张，准确率高 1.50 个百分点。准确率统计所有样本的正确比例，Macro F1 先计算每个家族的 F1，再等权平均，可以补充观察小类别。本次只比较了一个随机划分，不把这次差异解释为所有数据上的稳定提升。</a:t>
            </a:r>
          </a:p>
          <a:p/>
          <a:p>
            <a:r>
              <a:t>资料来源</a:t>
            </a:r>
          </a:p>
          <a:p>
            <a:r>
              <a:t>malware_image_homework/results/svm_metrics.json</a:t>
            </a:r>
          </a:p>
          <a:p>
            <a:r>
              <a:t>malware_image_homework/results/resnet_metrics.json</a:t>
            </a:r>
          </a:p>
          <a:p>
            <a:r>
              <a:t>malware_image_homework/results/test_predictions.npz</a:t>
            </a:r>
          </a:p>
          <a:p>
            <a:br/>
            <a:r>
              <a:t>依据实验报告第5节，所有指标均来自相同1200张测试图。Macro-F1差值0.9561-0.9266=0.0295；准确率差值1.50个百分点。报告中的耗时测量边界不同，不据此进行严格速度排名；未开展多种子统计或显著性检验。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分类层最多训练 100 轮，连续 20 轮没有更好的验证集 Macro F1，就提前停止。第 48 轮取得最高验证 Macro F1，约 0.9712。此后 20 轮没有刷新最佳成绩，所以在第 68 轮停止，但保存和测试使用的是第 48 轮权重。曲线前期上升较快，后面在高分附近波动。验证集成绩用来选模型，与最终测试成绩的用途不同。</a:t>
            </a:r>
          </a:p>
          <a:p/>
          <a:p>
            <a:r>
              <a:t>资料来源</a:t>
            </a:r>
          </a:p>
          <a:p>
            <a:r>
              <a:t>malware_image_homework/results/training_history.json</a:t>
            </a:r>
          </a:p>
          <a:p>
            <a:r>
              <a:t>malware_image_homework/results/resnet_metrics.json</a:t>
            </a:r>
          </a:p>
          <a:p>
            <a:br/>
            <a:r>
              <a:t>依据实验报告第8节与原PPT可编辑曲线数据。原始曲线保留68轮。训练和验证损失计算口径略有不同，不作精确等价风险比较。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HOG 统计局部亮度变化的方向，用向量描述图像的纹理。本次图像先统一为 224，再缩放到 128，设置 9 个方向、16 乘 16 的 cell、2 乘 2 的 block。每张图得到 1764 维特征，然后经过 StandardScaler 和线性 SVM。类别权重设为 balanced。比较了三个 C 值，验证集 Macro F1 分别约为 0.9251、0.9305 和 0.9243，所以选择 0.01。这里的验证成绩用于选择参数，最终测试成绩在后面单独报告。</a:t>
            </a:r>
          </a:p>
          <a:p/>
          <a:p>
            <a:r>
              <a:t>资料来源</a:t>
            </a:r>
          </a:p>
          <a:p>
            <a:r>
              <a:t>malware_image_homework/src/train.py</a:t>
            </a:r>
          </a:p>
          <a:p>
            <a:r>
              <a:t>malware_image_homework/results/svm_metrics.json</a:t>
            </a:r>
          </a:p>
          <a:p>
            <a:r>
              <a:t>malware_image_homework/features/hog_features.npz</a:t>
            </a:r>
          </a:p>
          <a:p>
            <a:br/>
            <a:r>
              <a:t>依据实验报告第4节。移除原PPT中报告未列出的三个候选C验证分数，保留报告明确记载的候选值和最优C=0.01。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测试中的错误集中在少数家族。这里截取 ResNet 的 Swizzor.gen!E 和 Swizzor.gen!I 两行，并把其他去向合并为一列，保证行和与测试数量一致。E 的 19 张中有 9 张判成 I，召回率约 52.6%。I 的 20 张中有 6 张判成 E，另 1 张判成 C2LOP.gen!g，召回率 65%。两类互相误分 15 张，占模型全部 21 个错误的约 71.4%。这个结果说明总体指标还不能反映每一类的情况。纹理相似可能是一个原因，当前实验还不能确定具体原因。</a:t>
            </a:r>
          </a:p>
          <a:p/>
          <a:p>
            <a:r>
              <a:t>资料来源</a:t>
            </a:r>
          </a:p>
          <a:p>
            <a:r>
              <a:t>malware_image_homework/results/resnet_metrics.json</a:t>
            </a:r>
          </a:p>
          <a:p>
            <a:r>
              <a:t>malware_image_homework/results/test_predictions.npz</a:t>
            </a:r>
          </a:p>
          <a:p>
            <a:br/>
            <a:r>
              <a:t>依据实验报告图6、图7。表中Swizzor E/I分别指Swizzor.gen!E/Swizzor.gen!I；两种模型各行所用测试集合一致。E-&gt;I的3张取自SVM完整混淆矩阵；Allaple.L-&gt;Allaple.A的0张取自ResNet18完整混淆矩阵。不能把整体提升解释为每类都更好。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训练结束后保存 HOG 加 SVM 模型、ResNet18 完整推理模型和两份特征文件。预测脚本读入图片后按照训练时的流程处理，再加载对应模型。演示用的是测试集中的 Agent.FYI 图像，原始尺寸为 64 乘 257，两种方法的第一名都为 Agent.FYI。以下两行分别运行 SVM 和 ResNet 预测，命令需要在作业项目根目录执行。程序也输出前三名，但 SVM 的分数不是概率，ResNet 的 softmax 分数也未校准。这一次正确预测只验证了保存后的推理流程。</a:t>
            </a:r>
          </a:p>
          <a:p/>
          <a:p>
            <a:r>
              <a:t>资料来源</a:t>
            </a:r>
          </a:p>
          <a:p>
            <a:r>
              <a:t>malware_image_homework/src/predict.py</a:t>
            </a:r>
          </a:p>
          <a:p>
            <a:r>
              <a:t>malware_image_homework/examples/malimg_test_sample.json</a:t>
            </a:r>
          </a:p>
          <a:p>
            <a:r>
              <a:t>malware_image_homework/models/hog_svm.joblib</a:t>
            </a:r>
          </a:p>
          <a:p>
            <a:r>
              <a:t>malware_image_homework/models/resnet18_head.pt</a:t>
            </a:r>
          </a:p>
          <a:p>
            <a:br/>
            <a:r>
              <a:t>沿用原PPT已有的Agent.FYI单图演示和命令。本次根据报告修改内容，未重新运行模型，也未新增运行截图。报告第9节另记录：重新加载完整ResNet18后抽查16张测试图像，预测与缓存特征计算结果一致。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这次完成了文件到 PNG 的转换及还原验证，用公开 Malimg 图像完成清洗和划分，并训练、保存、测试了两种分类模型。在本次划分下，冻结 ResNet18 加分类层比 HOG 加 SVM 更好，但 Swizzor 两个家族仍然较难区分。实验只覆盖 23 个已知家族，没有正常软件类别，也没有测试未知家族。只使用一个随机种子，而且完全去重之后仍可能有近似样本。后续可以先换随机种子检查结果是否稳定，再补正常样本和其他来源数据。主要参考 Malimg 图像研究、PyTorch 权重说明和 scikit-learn 接口。</a:t>
            </a:r>
          </a:p>
          <a:p/>
          <a:p>
            <a:r>
              <a:t>资料来源</a:t>
            </a:r>
          </a:p>
          <a:p>
            <a:r>
              <a:t>malware_image_homework/results/dataset_info.json</a:t>
            </a:r>
          </a:p>
          <a:p>
            <a:r>
              <a:t>malware_image_homework/results/svm_metrics.json</a:t>
            </a:r>
          </a:p>
          <a:p>
            <a:r>
              <a:t>malware_image_homework/results/resnet_metrics.json</a:t>
            </a:r>
          </a:p>
          <a:p>
            <a:r>
              <a:t>malware_image_homework/results/verification.json</a:t>
            </a:r>
          </a:p>
          <a:p>
            <a:r>
              <a:t>Nataraj et al. Malware images: visualization and automatic classification. VizSec 2011.</a:t>
            </a:r>
          </a:p>
          <a:p>
            <a:r>
              <a:t>https://pytorch.org/vision/stable/models/generated/torchvision.models.resnet18.html</a:t>
            </a:r>
          </a:p>
          <a:p>
            <a:r>
              <a:t>https://scikit-learn.org/stable/modules/generated/sklearn.svm.LinearSVC.html</a:t>
            </a:r>
          </a:p>
          <a:p>
            <a:br/>
            <a:r>
              <a:t>依据实验报告第8、9节。主要参考：Nataraj等，Malware images visualization and automatic classification，VizSec 2011；Dalal和Triggs，HOG，CVPR 2005；Cortes和Vapnik，Support-vector networks，1995；He等，Deep residual learning for image recognition，CVPR 2016；PyTorch ResNet18文档与scikit-learn文档，完整出处见实验报告。后续工作尚未完成。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'1.0' encoding='utf-8'?>
<Relationships xmlns="http://schemas.openxmlformats.org/package/2006/relationships"><Relationship Id="rId3" Type="http://schemas.openxmlformats.org/officeDocument/2006/relationships/notesSlide" Target="../notesSlides/notesSlide3.xml" /><Relationship Id="rId2" Type="http://schemas.openxmlformats.org/officeDocument/2006/relationships/slideLayout" Target="../slideLayouts/slideLayout2.xml" /><Relationship Id="rId4" Type="http://schemas.openxmlformats.org/officeDocument/2006/relationships/image" Target="../media/image_7a08945eaa81f4fa.png" /></Relationships>
</file>

<file path=ppt/slides/_rels/slide4.xml.rels><?xml version='1.0' encoding='utf-8'?>
<Relationships xmlns="http://schemas.openxmlformats.org/package/2006/relationships"><Relationship Id="rId3" Type="http://schemas.openxmlformats.org/officeDocument/2006/relationships/notesSlide" Target="../notesSlides/notesSlide4.xml" /><Relationship Id="rId2" Type="http://schemas.openxmlformats.org/officeDocument/2006/relationships/slideLayout" Target="../slideLayouts/slideLayout2.xml" /><Relationship Id="rId4" Type="http://schemas.openxmlformats.org/officeDocument/2006/relationships/image" Target="../media/image_58976037453d40fc.png" /></Relationships>
</file>

<file path=ppt/slides/_rels/slide5.xml.rels><?xml version='1.0' encoding='utf-8'?>
<Relationships xmlns="http://schemas.openxmlformats.org/package/2006/relationships"><Relationship Id="rId6" Type="http://schemas.openxmlformats.org/officeDocument/2006/relationships/notesSlide" Target="../notesSlides/notesSlide5.xml" /><Relationship Id="rId5" Type="http://schemas.openxmlformats.org/officeDocument/2006/relationships/slideLayout" Target="../slideLayouts/slideLayout2.xml" /><Relationship Id="rId7" Type="http://schemas.openxmlformats.org/officeDocument/2006/relationships/image" Target="../media/image_df55b0f7f4c08f90.png" /><Relationship Id="rId8" Type="http://schemas.openxmlformats.org/officeDocument/2006/relationships/image" Target="../media/image_a0ea1c5ffc22440a.png" /><Relationship Id="rId9" Type="http://schemas.openxmlformats.org/officeDocument/2006/relationships/image" Target="../media/image_2bc7a870ab547f10.png" /><Relationship Id="rId10" Type="http://schemas.openxmlformats.org/officeDocument/2006/relationships/image" Target="../media/image_a5825609e0392ff7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'1.0' encoding='utf-8'?>
<Relationships xmlns="http://schemas.openxmlformats.org/package/2006/relationships"><Relationship Id="rId3" Type="http://schemas.openxmlformats.org/officeDocument/2006/relationships/notesSlide" Target="../notesSlides/notesSlide9.xml" /><Relationship Id="rId2" Type="http://schemas.openxmlformats.org/officeDocument/2006/relationships/slideLayout" Target="../slideLayouts/slideLayout2.xml" /><Relationship Id="rId4" Type="http://schemas.openxmlformats.org/officeDocument/2006/relationships/chart" Target="../charts/chart901.xml" /></Relationships>
</file>

<file path=ppt/slides/_rels/slide10.xml.rels><?xml version='1.0' encoding='utf-8'?>
<Relationships xmlns="http://schemas.openxmlformats.org/package/2006/relationships"><Relationship Id="rId3" Type="http://schemas.openxmlformats.org/officeDocument/2006/relationships/notesSlide" Target="../notesSlides/notesSlide10.xml" /><Relationship Id="rId2" Type="http://schemas.openxmlformats.org/officeDocument/2006/relationships/slideLayout" Target="../slideLayouts/slideLayout2.xml" /><Relationship Id="rId4" Type="http://schemas.openxmlformats.org/officeDocument/2006/relationships/chart" Target="../charts/chart100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'1.0' encoding='utf-8'?>
<Relationships xmlns="http://schemas.openxmlformats.org/package/2006/relationships"><Relationship Id="rId3" Type="http://schemas.openxmlformats.org/officeDocument/2006/relationships/notesSlide" Target="../notesSlides/notesSlide13.xml" /><Relationship Id="rId2" Type="http://schemas.openxmlformats.org/officeDocument/2006/relationships/slideLayout" Target="../slideLayouts/slideLayout2.xml" /><Relationship Id="rId4" Type="http://schemas.openxmlformats.org/officeDocument/2006/relationships/image" Target="../media/image_e47d37aaf896e496.png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: 圆角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text-5"/>
          <p:cNvSpPr/>
          <p:nvPr/>
        </p:nvSpPr>
        <p:spPr>
          <a:xfrm>
            <a:off x="1028700" y="866775"/>
            <a:ext cx="54292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88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恶意代码分析课程作业</a:t>
            </a:r>
          </a:p>
        </p:txBody>
      </p:sp>
      <p:sp>
        <p:nvSpPr>
          <p:cNvPr id="36" name="text-6"/>
          <p:cNvSpPr/>
          <p:nvPr/>
        </p:nvSpPr>
        <p:spPr>
          <a:xfrm>
            <a:off x="1028700" y="2295525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l"/>
            <a:r>
              <a:rPr lang="zh-CN" sz="428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基于灰度图的</a:t>
            </a:r>
          </a:p>
        </p:txBody>
      </p:sp>
      <p:sp>
        <p:nvSpPr>
          <p:cNvPr id="37" name="text-7"/>
          <p:cNvSpPr/>
          <p:nvPr/>
        </p:nvSpPr>
        <p:spPr>
          <a:xfrm>
            <a:off x="1028700" y="3028950"/>
            <a:ext cx="962025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l"/>
            <a:r>
              <a:rPr lang="zh-CN" sz="458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恶意软件家族分类</a:t>
            </a:r>
          </a:p>
        </p:txBody>
      </p:sp>
      <p:sp>
        <p:nvSpPr>
          <p:cNvPr id="38" name="text-8"/>
          <p:cNvSpPr/>
          <p:nvPr/>
        </p:nvSpPr>
        <p:spPr>
          <a:xfrm>
            <a:off x="1066800" y="4105275"/>
            <a:ext cx="91440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1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HOG + SVM 与预训练 ResNet18 的实验比较</a:t>
            </a:r>
          </a:p>
        </p:txBody>
      </p:sp>
      <p:sp>
        <p:nvSpPr>
          <p:cNvPr id="39" name="text-9"/>
          <p:cNvSpPr/>
          <p:nvPr/>
        </p:nvSpPr>
        <p:spPr>
          <a:xfrm>
            <a:off x="1066800" y="4686300"/>
            <a:ext cx="91440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88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实验内容：文件转图像、数据清洗、模型训练与测试</a:t>
            </a:r>
          </a:p>
        </p:txBody>
      </p:sp>
      <p:sp>
        <p:nvSpPr>
          <p:cNvPr id="40" name="text-10"/>
          <p:cNvSpPr/>
          <p:nvPr/>
        </p:nvSpPr>
        <p:spPr>
          <a:xfrm>
            <a:off x="1066800" y="5657850"/>
            <a:ext cx="9810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 xml:space="preserve">姓名：________    学号：________    班级：________</a:t>
            </a:r>
          </a:p>
        </p:txBody>
      </p:sp>
      <p:sp>
        <p:nvSpPr>
          <p:cNvPr id="41" name="text-11"/>
          <p:cNvSpPr/>
          <p:nvPr/>
        </p:nvSpPr>
        <p:spPr>
          <a:xfrm>
            <a:off x="1066800" y="6172200"/>
            <a:ext cx="49530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实验任务与分类范围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71" name="表格 70"/>
          <p:cNvGraphicFramePr>
            <a:graphicFrameLocks noGrp="1"/>
          </p:cNvGraphicFramePr>
          <p:nvPr/>
        </p:nvGraphicFramePr>
        <p:xfrm>
          <a:off x="838200" y="1571625"/>
          <a:ext cx="10572750" cy="2524125"/>
        </p:xfrm>
        <a:graphic>
          <a:graphicData uri="http://schemas.openxmlformats.org/drawingml/2006/table">
            <a:tbl>
              <a:tblPr firstRow="0" bandRow="0">
</a:tblPr>
              <a:tblGrid>
                <a:gridCol w="2381250"/>
                <a:gridCol w="4000500"/>
                <a:gridCol w="4191000"/>
              </a:tblGrid>
              <a:tr h="631032">
                <a:tc>
                  <a:txBody>
                    <a:bodyPr/>
                    <a:lstStyle/>
                    <a:p>
                      <a:pPr algn="l"/>
                      <a:r>
                        <a:rPr lang="zh-CN" sz="1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作业内容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本次做法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可以展示的结果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软件转灰度图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读取字节，按宽度排列像素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PNG 图片、JSON 元信息、还原验证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公开数据集分类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Malimg 清洗后划分为三组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样本清单、标签和固定划分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比较分类方法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HOG + SVM 与冻结 ResNet18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两份特征文件、模型和测试成绩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text-7"/>
          <p:cNvSpPr/>
          <p:nvPr/>
        </p:nvSpPr>
        <p:spPr>
          <a:xfrm>
            <a:off x="895350" y="4429125"/>
            <a:ext cx="103822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实验顺序</a:t>
            </a:r>
          </a:p>
        </p:txBody>
      </p:sp>
      <p:sp>
        <p:nvSpPr>
          <p:cNvPr id="73" name="text-8"/>
          <p:cNvSpPr/>
          <p:nvPr/>
        </p:nvSpPr>
        <p:spPr>
          <a:xfrm>
            <a:off x="895350" y="4838700"/>
            <a:ext cx="1038225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先验证转换，再清洗数据。训练集拟合模型，验证集选参数，最后用测试集比较成绩。</a:t>
            </a:r>
          </a:p>
        </p:txBody>
      </p:sp>
      <p:sp>
        <p:nvSpPr>
          <p:cNvPr id="74" name="text-9"/>
          <p:cNvSpPr/>
          <p:nvPr/>
        </p:nvSpPr>
        <p:spPr>
          <a:xfrm>
            <a:off x="895350" y="5810250"/>
            <a:ext cx="10287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分类输出是家族名称，实验数据只包含恶意软件图像。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文件字节到灰度图的转换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581150"/>
            <a:ext cx="67151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1. 把字节值当作亮度</a:t>
            </a:r>
          </a:p>
        </p:txBody>
      </p:sp>
      <p:sp>
        <p:nvSpPr>
          <p:cNvPr id="72" name="text-8"/>
          <p:cNvSpPr/>
          <p:nvPr/>
        </p:nvSpPr>
        <p:spPr>
          <a:xfrm>
            <a:off x="895350" y="1990725"/>
            <a:ext cx="6715125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0 对应黑色，255 对应白色，其余数值对应不同深浅的灰色。</a:t>
            </a:r>
          </a:p>
        </p:txBody>
      </p:sp>
      <p:sp>
        <p:nvSpPr>
          <p:cNvPr id="73" name="text-9"/>
          <p:cNvSpPr/>
          <p:nvPr/>
        </p:nvSpPr>
        <p:spPr>
          <a:xfrm>
            <a:off x="895350" y="2838450"/>
            <a:ext cx="67151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2. 按固定宽度逐行排列</a:t>
            </a:r>
          </a:p>
        </p:txBody>
      </p:sp>
      <p:sp>
        <p:nvSpPr>
          <p:cNvPr id="74" name="text-10"/>
          <p:cNvSpPr/>
          <p:nvPr/>
        </p:nvSpPr>
        <p:spPr>
          <a:xfrm>
            <a:off x="895350" y="3248025"/>
            <a:ext cx="671512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12700" rIns="0" bIns="0" anchor="t" anchorCtr="0">
            <a:noAutofit/>
          </a:bodyPr>
          <a:lstStyle/>
          <a:p>
            <a:pPr algn="l">
              <a:lnSpc>
                <a:spcPts val="2588"/>
              </a:lnSpc>
            </a:pPr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高度 = ceil(字节数 / 宽度)。</a:t>
            </a:r>
          </a:p>
          <a:p>
            <a:pPr algn="l">
              <a:lnSpc>
                <a:spcPts val="2588"/>
              </a:lnSpc>
            </a:pPr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末行不够时补 0，并记录原始长度。</a:t>
            </a:r>
          </a:p>
        </p:txBody>
      </p:sp>
      <p:sp>
        <p:nvSpPr>
          <p:cNvPr id="75" name="text-11"/>
          <p:cNvSpPr/>
          <p:nvPr/>
        </p:nvSpPr>
        <p:spPr>
          <a:xfrm>
            <a:off x="895350" y="4219575"/>
            <a:ext cx="67151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3. 保存图片和元信息</a:t>
            </a:r>
          </a:p>
        </p:txBody>
      </p:sp>
      <p:sp>
        <p:nvSpPr>
          <p:cNvPr id="76" name="text-12"/>
          <p:cNvSpPr/>
          <p:nvPr/>
        </p:nvSpPr>
        <p:spPr>
          <a:xfrm>
            <a:off x="895350" y="4629150"/>
            <a:ext cx="6715125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380"/>
              </a:lnSpc>
            </a:pPr>
            <a:r>
              <a:rPr lang="zh-CN" sz="172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原始 PNG 结合 JSON 中的长度可还原字节。</a:t>
            </a:r>
          </a:p>
          <a:p>
            <a:pPr algn="l">
              <a:lnSpc>
                <a:spcPts val="2380"/>
              </a:lnSpc>
            </a:pPr>
            <a:r>
              <a:rPr lang="zh-CN" sz="172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训练缩放会改变像素，缩放图不能逐字节还原。</a:t>
            </a:r>
          </a:p>
        </p:txBody>
      </p:sp>
      <p:graphicFrame>
        <p:nvGraphicFramePr>
          <p:cNvPr id="77" name="表格 76"/>
          <p:cNvGraphicFramePr>
            <a:graphicFrameLocks noGrp="1"/>
          </p:cNvGraphicFramePr>
          <p:nvPr/>
        </p:nvGraphicFramePr>
        <p:xfrm>
          <a:off x="895350" y="5476875"/>
          <a:ext cx="6667500" cy="914400"/>
        </p:xfrm>
        <a:graphic>
          <a:graphicData uri="http://schemas.openxmlformats.org/drawingml/2006/table">
            <a:tbl>
              <a:tblPr firstRow="0" bandRow="0">
</a:tblPr>
              <a:tblGrid>
                <a:gridCol w="2000250"/>
                <a:gridCol w="1619250"/>
                <a:gridCol w="1619250"/>
                <a:gridCol w="14287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字节数</a:t>
                      </a:r>
                    </a:p>
                  </a:txBody>
                  <a:tcPr anchor="ctr" marL="123825" marR="123825" marT="81915" marB="8191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</a:t>
                      </a:r>
                    </a:p>
                  </a:txBody>
                  <a:tcPr anchor="ctr" marL="123825" marR="123825" marT="81915" marB="8191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高度</a:t>
                      </a:r>
                    </a:p>
                  </a:txBody>
                  <a:tcPr anchor="ctr" marL="123825" marR="123825" marT="81915" marB="8191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补零</a:t>
                      </a:r>
                    </a:p>
                  </a:txBody>
                  <a:tcPr anchor="ctr" marL="123825" marR="123825" marT="81915" marB="81915">
                    <a:solidFill>
                      <a:srgbClr val="2446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10,000</a:t>
                      </a:r>
                    </a:p>
                  </a:txBody>
                  <a:tcPr anchor="ctr" marL="123825" marR="123825" marT="81915" marB="819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anchor="ctr" marL="123825" marR="123825" marT="81915" marB="819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anchor="ctr" marL="123825" marR="123825" marT="81915" marB="819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123825" marR="123825" marT="81915" marB="8191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2" name="图片 77"/>
          <p:cNvGrpSpPr/>
          <p:nvPr/>
        </p:nvGrpSpPr>
        <p:grpSpPr>
          <a:xfrm>
            <a:off x="8486775" y="1962150"/>
            <a:ext cx="2381250" cy="2381250"/>
            <a:chOff x="8486775" y="1962150"/>
            <a:chExt cx="2381250" cy="238125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86775" y="1962150"/>
              <a:ext cx="2381250" cy="2381250"/>
            </a:xfrm>
            <a:prstGeom prst="rect">
              <a:avLst/>
            </a:prstGeom>
          </p:spPr>
        </p:pic>
      </p:grpSp>
      <p:sp>
        <p:nvSpPr>
          <p:cNvPr id="79" name="text-13"/>
          <p:cNvSpPr/>
          <p:nvPr/>
        </p:nvSpPr>
        <p:spPr>
          <a:xfrm>
            <a:off x="8229600" y="4600575"/>
            <a:ext cx="2905125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380"/>
              </a:lnSpc>
            </a:pPr>
            <a:r>
              <a:rPr lang="zh-CN" sz="172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人工构造的 10,000 字节</a:t>
            </a:r>
          </a:p>
          <a:p>
            <a:pPr algn="ctr">
              <a:lnSpc>
                <a:spcPts val="2380"/>
              </a:lnSpc>
            </a:pPr>
            <a:r>
              <a:rPr lang="zh-CN" sz="172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转换结果为 100 ×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转换程序与还原验证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504950"/>
            <a:ext cx="80010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核心代码的简化写法</a:t>
            </a:r>
          </a:p>
        </p:txBody>
      </p:sp>
      <p:sp>
        <p:nvSpPr>
          <p:cNvPr id="72" name="text-8"/>
          <p:cNvSpPr/>
          <p:nvPr/>
        </p:nvSpPr>
        <p:spPr>
          <a:xfrm>
            <a:off x="895350" y="2009775"/>
            <a:ext cx="7810500" cy="2200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277"/>
              </a:lnSpc>
            </a:pPr>
            <a:r>
              <a:rPr lang="en-US" sz="1650" dirty="0">
                <a:solidFill>
                  <a:srgbClr val="262B30"/>
                </a:solidFill>
                <a:latin typeface="Consolas"/>
                <a:ea typeface="Consolas"/>
                <a:cs typeface="Consolas"/>
              </a:rPr>
              <a:t>data = source.read_bytes()</a:t>
            </a:r>
          </a:p>
          <a:p>
            <a:pPr algn="l">
              <a:lnSpc>
                <a:spcPts val="2277"/>
              </a:lnSpc>
            </a:pPr>
            <a:r>
              <a:rPr lang="en-US" sz="1650" dirty="0">
                <a:solidFill>
                  <a:srgbClr val="262B30"/>
                </a:solidFill>
                <a:latin typeface="Consolas"/>
                <a:ea typeface="Consolas"/>
                <a:cs typeface="Consolas"/>
              </a:rPr>
              <a:t>height = (len(data) + width - 1) // width</a:t>
            </a:r>
          </a:p>
          <a:p>
            <a:pPr algn="l">
              <a:lnSpc>
                <a:spcPts val="2277"/>
              </a:lnSpc>
            </a:pPr>
            <a:r>
              <a:rPr lang="en-US" sz="1650" dirty="0">
                <a:solidFill>
                  <a:srgbClr val="262B30"/>
                </a:solidFill>
                <a:latin typeface="Consolas"/>
                <a:ea typeface="Consolas"/>
                <a:cs typeface="Consolas"/>
              </a:rPr>
              <a:t>pixels = np.zeros(width * height, dtype=np.uint8)</a:t>
            </a:r>
          </a:p>
          <a:p>
            <a:pPr algn="l">
              <a:lnSpc>
                <a:spcPts val="2277"/>
              </a:lnSpc>
            </a:pPr>
            <a:r>
              <a:rPr lang="en-US" sz="1650" dirty="0">
                <a:solidFill>
                  <a:srgbClr val="262B30"/>
                </a:solidFill>
                <a:latin typeface="Consolas"/>
                <a:ea typeface="Consolas"/>
                <a:cs typeface="Consolas"/>
              </a:rPr>
              <a:t>pixels[:len(data)] = np.frombuffer(data, np.uint8)</a:t>
            </a:r>
          </a:p>
          <a:p>
            <a:pPr algn="l">
              <a:lnSpc>
                <a:spcPts val="2277"/>
              </a:lnSpc>
            </a:pPr>
            <a:r>
              <a:rPr lang="en-US" sz="1650" dirty="0">
                <a:solidFill>
                  <a:srgbClr val="262B30"/>
                </a:solidFill>
                <a:latin typeface="Consolas"/>
                <a:ea typeface="Consolas"/>
                <a:cs typeface="Consolas"/>
              </a:rPr>
              <a:t>image = pixels.reshape(height, width)</a:t>
            </a:r>
          </a:p>
          <a:p>
            <a:pPr algn="l">
              <a:lnSpc>
                <a:spcPts val="2277"/>
              </a:lnSpc>
            </a:pPr>
            <a:r>
              <a:rPr lang="en-US" sz="1650" dirty="0">
                <a:solidFill>
                  <a:srgbClr val="262B30"/>
                </a:solidFill>
                <a:latin typeface="Consolas"/>
                <a:ea typeface="Consolas"/>
                <a:cs typeface="Consolas"/>
              </a:rPr>
              <a:t>Image.fromarray(image).save('output.png')</a:t>
            </a:r>
          </a:p>
        </p:txBody>
      </p:sp>
      <p:graphicFrame>
        <p:nvGraphicFramePr>
          <p:cNvPr id="73" name="表格 72"/>
          <p:cNvGraphicFramePr>
            <a:graphicFrameLocks noGrp="1"/>
          </p:cNvGraphicFramePr>
          <p:nvPr/>
        </p:nvGraphicFramePr>
        <p:xfrm>
          <a:off x="895350" y="4371975"/>
          <a:ext cx="7191375" cy="1438275"/>
        </p:xfrm>
        <a:graphic>
          <a:graphicData uri="http://schemas.openxmlformats.org/drawingml/2006/table">
            <a:tbl>
              <a:tblPr firstRow="0" bandRow="0">
</a:tblPr>
              <a:tblGrid>
                <a:gridCol w="3000375"/>
                <a:gridCol w="4191000"/>
              </a:tblGrid>
              <a:tr h="479425">
                <a:tc>
                  <a:txBody>
                    <a:bodyPr/>
                    <a:lstStyle/>
                    <a:p>
                      <a:pPr algn="l"/>
                      <a:r>
                        <a:rPr lang="zh-CN" sz="1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真实文件演示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 python.exe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104,952 字节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图像尺寸与补零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 × 410，补 8 字节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4" name="text-9"/>
          <p:cNvSpPr/>
          <p:nvPr/>
        </p:nvSpPr>
        <p:spPr>
          <a:xfrm>
            <a:off x="895350" y="6019800"/>
            <a:ext cx="100965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还原检查：取原始长度的像素字节，与原文件一致。</a:t>
            </a:r>
          </a:p>
        </p:txBody>
      </p:sp>
      <p:grpSp>
        <p:nvGrpSpPr>
          <p:cNvPr id="8" name="图片 74"/>
          <p:cNvGrpSpPr/>
          <p:nvPr/>
        </p:nvGrpSpPr>
        <p:grpSpPr>
          <a:xfrm>
            <a:off x="9097423" y="1647825"/>
            <a:ext cx="2188654" cy="3505200"/>
            <a:chOff x="9097423" y="1647825"/>
            <a:chExt cx="2188654" cy="35052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97423" y="1647825"/>
              <a:ext cx="2188654" cy="3505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Malimg 数据来源与图像样例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628775"/>
            <a:ext cx="5857875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原始版本共有 9,339 张、25 个家族</a:t>
            </a:r>
          </a:p>
        </p:txBody>
      </p:sp>
      <p:sp>
        <p:nvSpPr>
          <p:cNvPr id="72" name="text-8"/>
          <p:cNvSpPr/>
          <p:nvPr/>
        </p:nvSpPr>
        <p:spPr>
          <a:xfrm>
            <a:off x="895350" y="2295525"/>
            <a:ext cx="5857875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使用公开流通的 Malimg 图像归档。</a:t>
            </a:r>
          </a:p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图像带家族标签，本实验未运行恶意程序。</a:t>
            </a:r>
          </a:p>
        </p:txBody>
      </p:sp>
      <p:graphicFrame>
        <p:nvGraphicFramePr>
          <p:cNvPr id="73" name="表格 72"/>
          <p:cNvGraphicFramePr>
            <a:graphicFrameLocks noGrp="1"/>
          </p:cNvGraphicFramePr>
          <p:nvPr/>
        </p:nvGraphicFramePr>
        <p:xfrm>
          <a:off x="895350" y="3390900"/>
          <a:ext cx="5476875" cy="2066925"/>
        </p:xfrm>
        <a:graphic>
          <a:graphicData uri="http://schemas.openxmlformats.org/drawingml/2006/table">
            <a:tbl>
              <a:tblPr firstRow="0" bandRow="0">
</a:tblPr>
              <a:tblGrid>
                <a:gridCol w="3381375"/>
                <a:gridCol w="2095500"/>
              </a:tblGrid>
              <a:tr h="516732"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原始家族例子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图片数量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Allaple.A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2,949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Allaple.L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1,591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Skintrim.N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text-9"/>
          <p:cNvSpPr/>
          <p:nvPr/>
        </p:nvSpPr>
        <p:spPr>
          <a:xfrm>
            <a:off x="895350" y="5686425"/>
            <a:ext cx="5762625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277"/>
              </a:lnSpc>
            </a:pPr>
            <a:r>
              <a:rPr lang="zh-CN" sz="165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类别数量不均衡，需同时观察准确率和 Macro-F1。</a:t>
            </a:r>
          </a:p>
          <a:p>
            <a:pPr algn="l">
              <a:lnSpc>
                <a:spcPts val="2277"/>
              </a:lnSpc>
            </a:pPr>
            <a:r>
              <a:rPr lang="zh-CN" sz="165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镜像来源与归档哈希见报告。</a:t>
            </a:r>
          </a:p>
        </p:txBody>
      </p:sp>
      <p:grpSp>
        <p:nvGrpSpPr>
          <p:cNvPr id="8" name="图片 74"/>
          <p:cNvGrpSpPr/>
          <p:nvPr/>
        </p:nvGrpSpPr>
        <p:grpSpPr>
          <a:xfrm>
            <a:off x="7181850" y="1571625"/>
            <a:ext cx="1752600" cy="1752600"/>
            <a:chOff x="7181850" y="1571625"/>
            <a:chExt cx="1752600" cy="17526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81850" y="1571625"/>
              <a:ext cx="1752600" cy="1752600"/>
            </a:xfrm>
            <a:prstGeom prst="rect">
              <a:avLst/>
            </a:prstGeom>
          </p:spPr>
        </p:pic>
      </p:grpSp>
      <p:sp>
        <p:nvSpPr>
          <p:cNvPr id="76" name="text-10"/>
          <p:cNvSpPr/>
          <p:nvPr/>
        </p:nvSpPr>
        <p:spPr>
          <a:xfrm>
            <a:off x="7067550" y="3400425"/>
            <a:ext cx="19907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ctr"/>
            <a:r>
              <a:rPr lang="en-US" sz="165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Allaple.A</a:t>
            </a:r>
          </a:p>
        </p:txBody>
      </p:sp>
      <p:grpSp>
        <p:nvGrpSpPr>
          <p:cNvPr id="12" name="图片 76"/>
          <p:cNvGrpSpPr/>
          <p:nvPr/>
        </p:nvGrpSpPr>
        <p:grpSpPr>
          <a:xfrm>
            <a:off x="9353550" y="1571625"/>
            <a:ext cx="1752600" cy="1752600"/>
            <a:chOff x="9353550" y="1571625"/>
            <a:chExt cx="1752600" cy="175260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53550" y="1571625"/>
              <a:ext cx="1752600" cy="1752600"/>
            </a:xfrm>
            <a:prstGeom prst="rect">
              <a:avLst/>
            </a:prstGeom>
          </p:spPr>
        </p:pic>
      </p:grpSp>
      <p:sp>
        <p:nvSpPr>
          <p:cNvPr id="78" name="text-11"/>
          <p:cNvSpPr/>
          <p:nvPr/>
        </p:nvSpPr>
        <p:spPr>
          <a:xfrm>
            <a:off x="9239250" y="3400425"/>
            <a:ext cx="19907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ctr"/>
            <a:r>
              <a:rPr lang="en-US" sz="165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C2LOP.P</a:t>
            </a:r>
          </a:p>
        </p:txBody>
      </p:sp>
      <p:grpSp>
        <p:nvGrpSpPr>
          <p:cNvPr id="15" name="图片 78"/>
          <p:cNvGrpSpPr/>
          <p:nvPr/>
        </p:nvGrpSpPr>
        <p:grpSpPr>
          <a:xfrm>
            <a:off x="7181850" y="3857625"/>
            <a:ext cx="1752600" cy="1752600"/>
            <a:chOff x="7181850" y="3857625"/>
            <a:chExt cx="1752600" cy="175260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81850" y="3857625"/>
              <a:ext cx="1752600" cy="1752600"/>
            </a:xfrm>
            <a:prstGeom prst="rect">
              <a:avLst/>
            </a:prstGeom>
          </p:spPr>
        </p:pic>
      </p:grpSp>
      <p:sp>
        <p:nvSpPr>
          <p:cNvPr id="80" name="text-12"/>
          <p:cNvSpPr/>
          <p:nvPr/>
        </p:nvSpPr>
        <p:spPr>
          <a:xfrm>
            <a:off x="7067550" y="5686425"/>
            <a:ext cx="19907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ctr"/>
            <a:r>
              <a:rPr lang="en-US" sz="165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Lolyda.AA3</a:t>
            </a:r>
          </a:p>
        </p:txBody>
      </p:sp>
      <p:grpSp>
        <p:nvGrpSpPr>
          <p:cNvPr id="18" name="图片 80"/>
          <p:cNvGrpSpPr/>
          <p:nvPr/>
        </p:nvGrpSpPr>
        <p:grpSpPr>
          <a:xfrm>
            <a:off x="9353550" y="3857625"/>
            <a:ext cx="1752600" cy="1752600"/>
            <a:chOff x="9353550" y="3857625"/>
            <a:chExt cx="1752600" cy="17526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53550" y="3857625"/>
              <a:ext cx="1752600" cy="1752600"/>
            </a:xfrm>
            <a:prstGeom prst="rect">
              <a:avLst/>
            </a:prstGeom>
          </p:spPr>
        </p:pic>
      </p:grpSp>
      <p:sp>
        <p:nvSpPr>
          <p:cNvPr id="82" name="text-13"/>
          <p:cNvSpPr/>
          <p:nvPr/>
        </p:nvSpPr>
        <p:spPr>
          <a:xfrm>
            <a:off x="9239250" y="5686425"/>
            <a:ext cx="19907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ctr"/>
            <a:r>
              <a:rPr lang="en-US" sz="165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Swizzor.gen!E</a:t>
            </a:r>
          </a:p>
        </p:txBody>
      </p:sp>
      <p:sp>
        <p:nvSpPr>
          <p:cNvPr id="83" name="text-14"/>
          <p:cNvSpPr/>
          <p:nvPr/>
        </p:nvSpPr>
        <p:spPr>
          <a:xfrm>
            <a:off x="7067550" y="6191250"/>
            <a:ext cx="43434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ctr"/>
            <a:r>
              <a:rPr lang="zh-CN" sz="158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四幅实际输入图，统一为 224 × 224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像素去重与家族筛选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562100"/>
            <a:ext cx="1038225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-12700" rIns="0" bIns="0" anchor="t" anchorCtr="0">
            <a:noAutofit/>
          </a:bodyPr>
          <a:lstStyle/>
          <a:p>
            <a:pPr algn="l">
              <a:lnSpc>
                <a:spcPts val="2588"/>
              </a:lnSpc>
            </a:pPr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按 128 × 128 最终输入像素去重，再进行数据划分。</a:t>
            </a:r>
          </a:p>
          <a:p>
            <a:pPr algn="l">
              <a:lnSpc>
                <a:spcPts val="2588"/>
              </a:lnSpc>
            </a:pPr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跨标签冲突输入全部排除；本次未发现冲突。</a:t>
            </a:r>
          </a:p>
        </p:txBody>
      </p:sp>
      <p:graphicFrame>
        <p:nvGraphicFramePr>
          <p:cNvPr id="72" name="表格 71"/>
          <p:cNvGraphicFramePr>
            <a:graphicFrameLocks noGrp="1"/>
          </p:cNvGraphicFramePr>
          <p:nvPr/>
        </p:nvGraphicFramePr>
        <p:xfrm>
          <a:off x="895350" y="2333625"/>
          <a:ext cx="10382250" cy="1781175"/>
        </p:xfrm>
        <a:graphic>
          <a:graphicData uri="http://schemas.openxmlformats.org/drawingml/2006/table">
            <a:tbl>
              <a:tblPr firstRow="0" bandRow="0">
</a:tblPr>
              <a:tblGrid>
                <a:gridCol w="2857500"/>
                <a:gridCol w="2190750"/>
                <a:gridCol w="3143250"/>
                <a:gridCol w="2190750"/>
              </a:tblGrid>
              <a:tr h="593725"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家族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原始图片数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去重后的独立输入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Yuner.A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Autorun.K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106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3" name="text-8"/>
          <p:cNvSpPr/>
          <p:nvPr/>
        </p:nvSpPr>
        <p:spPr>
          <a:xfrm>
            <a:off x="895350" y="4457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样本数量核对</a:t>
            </a:r>
          </a:p>
        </p:txBody>
      </p:sp>
      <p:sp>
        <p:nvSpPr>
          <p:cNvPr id="74" name="text-9"/>
          <p:cNvSpPr/>
          <p:nvPr/>
        </p:nvSpPr>
        <p:spPr>
          <a:xfrm>
            <a:off x="895350" y="4953000"/>
            <a:ext cx="104775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9,339 − 1,337 个重复输入 − 3 个不足样本 = 7,999</a:t>
            </a:r>
          </a:p>
        </p:txBody>
      </p:sp>
      <p:sp>
        <p:nvSpPr>
          <p:cNvPr id="75" name="text-10"/>
          <p:cNvSpPr/>
          <p:nvPr/>
        </p:nvSpPr>
        <p:spPr>
          <a:xfrm>
            <a:off x="895350" y="5610225"/>
            <a:ext cx="1038225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380"/>
              </a:lnSpc>
            </a:pPr>
            <a:r>
              <a:rPr lang="zh-CN" sz="172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最终保留 23 个家族，不能与未去重的 25 类成绩直接比较。</a:t>
            </a:r>
          </a:p>
          <a:p>
            <a:pPr algn="l">
              <a:lnSpc>
                <a:spcPts val="2380"/>
              </a:lnSpc>
            </a:pPr>
            <a:r>
              <a:rPr lang="zh-CN" sz="172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像素去重仅排除完全相同的输入，近似样本仍可能存在。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数据划分与泄漏检查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1" name="表格 70"/>
          <p:cNvGraphicFramePr>
            <a:graphicFrameLocks noGrp="1"/>
          </p:cNvGraphicFramePr>
          <p:nvPr/>
        </p:nvGraphicFramePr>
        <p:xfrm>
          <a:off x="895350" y="1638300"/>
          <a:ext cx="10382250" cy="2409825"/>
        </p:xfrm>
        <a:graphic>
          <a:graphicData uri="http://schemas.openxmlformats.org/drawingml/2006/table">
            <a:tbl>
              <a:tblPr firstRow="0" bandRow="0">
</a:tblPr>
              <a:tblGrid>
                <a:gridCol w="2190750"/>
                <a:gridCol w="2809875"/>
                <a:gridCol w="5381625"/>
              </a:tblGrid>
              <a:tr h="602457"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集合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 / 比例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训练集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5,599 / 约 70%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拟合模型，计算标准化参数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验证集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 / 约 15%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 SVM 的 C 和 ResNet 的轮次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测试集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 / 约 15%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模型选好之后，最后评估一次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text-7"/>
          <p:cNvSpPr/>
          <p:nvPr/>
        </p:nvSpPr>
        <p:spPr>
          <a:xfrm>
            <a:off x="895350" y="4429125"/>
            <a:ext cx="103822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统一预处理与输入检查</a:t>
            </a:r>
          </a:p>
        </p:txBody>
      </p:sp>
      <p:sp>
        <p:nvSpPr>
          <p:cNvPr id="73" name="text-8"/>
          <p:cNvSpPr/>
          <p:nvPr/>
        </p:nvSpPr>
        <p:spPr>
          <a:xfrm>
            <a:off x="895350" y="4838700"/>
            <a:ext cx="10382250" cy="895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原图转灰度，以双线性插值缩放到 224 × 224；HOG 再缩放到 128 × 128。</a:t>
            </a:r>
          </a:p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两种模型使用同一随机分层划分，两种最终输入均无跨集合重复。</a:t>
            </a:r>
          </a:p>
        </p:txBody>
      </p:sp>
      <p:sp>
        <p:nvSpPr>
          <p:cNvPr id="74" name="text-9"/>
          <p:cNvSpPr/>
          <p:nvPr/>
        </p:nvSpPr>
        <p:spPr>
          <a:xfrm>
            <a:off x="895350" y="5953125"/>
            <a:ext cx="103822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固定种子：20261008。标准化参数及类别权重仅由训练集计算。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方法二：冻结 ResNet18 与分类层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581150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① 输入：224 × 224 灰度图</a:t>
            </a:r>
          </a:p>
        </p:txBody>
      </p:sp>
      <p:sp>
        <p:nvSpPr>
          <p:cNvPr id="72" name="text-8"/>
          <p:cNvSpPr/>
          <p:nvPr/>
        </p:nvSpPr>
        <p:spPr>
          <a:xfrm>
            <a:off x="895350" y="1990725"/>
            <a:ext cx="5238750" cy="895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复制为 RGB 三通道，使用 ImageNet</a:t>
            </a:r>
          </a:p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均值和标准差归一化。</a:t>
            </a:r>
          </a:p>
        </p:txBody>
      </p:sp>
      <p:sp>
        <p:nvSpPr>
          <p:cNvPr id="73" name="text-9"/>
          <p:cNvSpPr/>
          <p:nvPr/>
        </p:nvSpPr>
        <p:spPr>
          <a:xfrm>
            <a:off x="895350" y="3086100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② 冻结骨干：提取 512 维特征</a:t>
            </a:r>
          </a:p>
        </p:txBody>
      </p:sp>
      <p:sp>
        <p:nvSpPr>
          <p:cNvPr id="74" name="text-10"/>
          <p:cNvSpPr/>
          <p:nvPr/>
        </p:nvSpPr>
        <p:spPr>
          <a:xfrm>
            <a:off x="895350" y="3495675"/>
            <a:ext cx="5238750" cy="866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ResNet18 与 BatchNorm 保持 eval 模式。</a:t>
            </a:r>
          </a:p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经全局平均池化得到特征，并缓存。</a:t>
            </a:r>
          </a:p>
        </p:txBody>
      </p:sp>
      <p:sp>
        <p:nvSpPr>
          <p:cNvPr id="75" name="text-11"/>
          <p:cNvSpPr/>
          <p:nvPr/>
        </p:nvSpPr>
        <p:spPr>
          <a:xfrm>
            <a:off x="895350" y="4572000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③ 可训练层：输出 23 个家族</a:t>
            </a:r>
          </a:p>
        </p:txBody>
      </p:sp>
      <p:sp>
        <p:nvSpPr>
          <p:cNvPr id="76" name="text-12"/>
          <p:cNvSpPr/>
          <p:nvPr/>
        </p:nvSpPr>
        <p:spPr>
          <a:xfrm>
            <a:off x="895350" y="4981575"/>
            <a:ext cx="523875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Linear(512, 23)，只更新分类层参数。</a:t>
            </a:r>
          </a:p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预测时仍执行完整网络的前向计算。</a:t>
            </a:r>
          </a:p>
        </p:txBody>
      </p:sp>
      <p:graphicFrame>
        <p:nvGraphicFramePr>
          <p:cNvPr id="77" name="表格 76"/>
          <p:cNvGraphicFramePr>
            <a:graphicFrameLocks noGrp="1"/>
          </p:cNvGraphicFramePr>
          <p:nvPr/>
        </p:nvGraphicFramePr>
        <p:xfrm>
          <a:off x="6724650" y="1743075"/>
          <a:ext cx="4562475" cy="3371850"/>
        </p:xfrm>
        <a:graphic>
          <a:graphicData uri="http://schemas.openxmlformats.org/drawingml/2006/table">
            <a:tbl>
              <a:tblPr firstRow="0" bandRow="0">
</a:tblPr>
              <a:tblGrid>
                <a:gridCol w="2705100"/>
                <a:gridCol w="1857375"/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分类层训练设置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取值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优化器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AdamW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学习率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0.001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lang="en-US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weight decay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0.0001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类别权重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仅由训练集计算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损失函数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加权交叉熵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text-13"/>
          <p:cNvSpPr/>
          <p:nvPr/>
        </p:nvSpPr>
        <p:spPr>
          <a:xfrm>
            <a:off x="6724650" y="5514975"/>
            <a:ext cx="4629150" cy="676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380"/>
              </a:lnSpc>
            </a:pPr>
            <a:r>
              <a:rPr lang="zh-CN" sz="17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CPU 8 线程，ImageNet 预训练权重</a:t>
            </a:r>
          </a:p>
          <a:p>
            <a:pPr algn="l">
              <a:lnSpc>
                <a:spcPts val="2380"/>
              </a:lnSpc>
            </a:pPr>
            <a:r>
              <a:rPr lang="zh-CN" sz="17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本次未进行骨干网络微调。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测试结果：准确率与 Macro-F1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3" name="text-7"/>
          <p:cNvSpPr/>
          <p:nvPr/>
        </p:nvSpPr>
        <p:spPr>
          <a:xfrm>
            <a:off x="7848600" y="3705225"/>
            <a:ext cx="34671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Macro-F1 增加 0.0295</a:t>
            </a:r>
          </a:p>
        </p:txBody>
      </p:sp>
      <p:sp>
        <p:nvSpPr>
          <p:cNvPr id="74" name="text-8"/>
          <p:cNvSpPr/>
          <p:nvPr/>
        </p:nvSpPr>
        <p:spPr>
          <a:xfrm>
            <a:off x="7848600" y="4229100"/>
            <a:ext cx="3467100" cy="971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准确率提高 1.50 个百分点。</a:t>
            </a:r>
          </a:p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测试集共 1,200 张，多判对 18 张。</a:t>
            </a:r>
          </a:p>
        </p:txBody>
      </p:sp>
      <p:sp>
        <p:nvSpPr>
          <p:cNvPr id="75" name="text-9"/>
          <p:cNvSpPr/>
          <p:nvPr/>
        </p:nvSpPr>
        <p:spPr>
          <a:xfrm>
            <a:off x="7848600" y="5400675"/>
            <a:ext cx="3457575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380"/>
              </a:lnSpc>
            </a:pPr>
            <a:r>
              <a:rPr lang="zh-CN" sz="172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Macro-F1 对各家族等权平均。</a:t>
            </a:r>
          </a:p>
          <a:p>
            <a:pPr algn="l">
              <a:lnSpc>
                <a:spcPts val="2380"/>
              </a:lnSpc>
            </a:pPr>
            <a:r>
              <a:rPr lang="zh-CN" sz="172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结果仅代表本次划分与设置。</a:t>
            </a:r>
          </a:p>
        </p:txBody>
      </p:sp>
      <p:graphicFrame>
        <p:nvGraphicFramePr>
          <p:cNvPr id="76" name="表格 75"/>
          <p:cNvGraphicFramePr>
            <a:graphicFrameLocks noGrp="1"/>
          </p:cNvGraphicFramePr>
          <p:nvPr/>
        </p:nvGraphicFramePr>
        <p:xfrm>
          <a:off x="895350" y="1581150"/>
          <a:ext cx="10382250" cy="1685925"/>
        </p:xfrm>
        <a:graphic>
          <a:graphicData uri="http://schemas.openxmlformats.org/drawingml/2006/table">
            <a:tbl>
              <a:tblPr firstRow="0" bandRow="0">
</a:tblPr>
              <a:tblGrid>
                <a:gridCol w="2857500"/>
                <a:gridCol w="1381125"/>
                <a:gridCol w="1476375"/>
                <a:gridCol w="1714500"/>
                <a:gridCol w="2952750"/>
              </a:tblGrid>
              <a:tr h="5619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准确率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rgbClr val="FFFFFF"/>
                          </a:solidFill>
                        </a:rPr>
                        <a:t>Weighted-F1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正确 / 总数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2B30"/>
                          </a:solidFill>
                        </a:rPr>
                        <a:t>HOG +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96.75%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0.9266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0.9672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1,161 / 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ResNet18 + 分类层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98.25%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0.9561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0.9826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1,179 / 1,200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895350" y="3590925"/>
          <a:ext cx="6496050" cy="2657475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训练早停与最佳权重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504950"/>
            <a:ext cx="738187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验证集 Macro-F1：第 48 轮达到最佳 0.9712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876300" y="2038350"/>
          <a:ext cx="6858000" cy="32766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/>
        </p:nvGraphicFramePr>
        <p:xfrm>
          <a:off x="8115300" y="1952625"/>
          <a:ext cx="3162300" cy="3000375"/>
        </p:xfrm>
        <a:graphic>
          <a:graphicData uri="http://schemas.openxmlformats.org/drawingml/2006/table">
            <a:tbl>
              <a:tblPr firstRow="0" bandRow="0">
</a:tblPr>
              <a:tblGrid>
                <a:gridCol w="2152650"/>
                <a:gridCol w="1009650"/>
              </a:tblGrid>
              <a:tr h="500063">
                <a:tc>
                  <a:txBody>
                    <a:bodyPr/>
                    <a:lstStyle/>
                    <a:p>
                      <a:pPr algn="l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训练记录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最大轮数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实际轮数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  <a:tr h="500062"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保存的最佳轮次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500062"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最佳验证 Macro-F1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0.9712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  <a:tr h="500062"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早停等待轮数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58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text-8"/>
          <p:cNvSpPr/>
          <p:nvPr/>
        </p:nvSpPr>
        <p:spPr>
          <a:xfrm>
            <a:off x="895350" y="5695950"/>
            <a:ext cx="1038225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第 48 轮后连续 20 轮未刷新最佳成绩，第 68 轮触发早停。</a:t>
            </a:r>
          </a:p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最终测试使用第 48 轮保存的权重，而非最后一轮权重。</a:t>
            </a:r>
          </a:p>
        </p:txBody>
      </p:sp>
      <p:sp>
        <p:nvSpPr>
          <p:cNvPr id="75" name="直接连接符 74"/>
          <p:cNvSpPr/>
          <p:nvPr/>
        </p:nvSpPr>
        <p:spPr>
          <a:xfrm>
            <a:off x="5724525" y="2543175"/>
            <a:ext cx="0" cy="1895475"/>
          </a:xfrm>
          <a:prstGeom prst="line">
            <a:avLst/>
          </a:prstGeom>
          <a:noFill/>
          <a:ln w="14288">
            <a:solidFill>
              <a:srgbClr val="AD673F"/>
            </a:solidFill>
            <a:prstDash val="dash"/>
          </a:ln>
        </p:spPr>
      </p:sp>
      <p:sp>
        <p:nvSpPr>
          <p:cNvPr id="76" name="矩形 75"/>
          <p:cNvSpPr/>
          <p:nvPr/>
        </p:nvSpPr>
        <p:spPr>
          <a:xfrm>
            <a:off x="5524500" y="2286000"/>
            <a:ext cx="457200" cy="24765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AD673F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方法一：HOG 与线性 SVM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504950"/>
            <a:ext cx="10382250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HOG 描述局部纹理，SVM 根据特征向量区分家族。</a:t>
            </a:r>
          </a:p>
        </p:txBody>
      </p:sp>
      <p:sp>
        <p:nvSpPr>
          <p:cNvPr id="74" name="text-8"/>
          <p:cNvSpPr/>
          <p:nvPr/>
        </p:nvSpPr>
        <p:spPr>
          <a:xfrm>
            <a:off x="7286625" y="4552950"/>
            <a:ext cx="39814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18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选中 C = 0.01</a:t>
            </a:r>
          </a:p>
        </p:txBody>
      </p:sp>
      <p:sp>
        <p:nvSpPr>
          <p:cNvPr id="75" name="text-9"/>
          <p:cNvSpPr/>
          <p:nvPr/>
        </p:nvSpPr>
        <p:spPr>
          <a:xfrm>
            <a:off x="895350" y="5305425"/>
            <a:ext cx="103822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7 × 7 个块，每块 4 个单元、9 个方向：7 × 7 × 4 × 9 = 1,764 维。</a:t>
            </a:r>
          </a:p>
        </p:txBody>
      </p:sp>
      <p:sp>
        <p:nvSpPr>
          <p:cNvPr id="76" name="text-10"/>
          <p:cNvSpPr/>
          <p:nvPr/>
        </p:nvSpPr>
        <p:spPr>
          <a:xfrm>
            <a:off x="895350" y="5972175"/>
            <a:ext cx="1033462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72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StandardScaler 仅拟合训练集；SVM 容差 0.001，最多迭代 5,000 次。</a:t>
            </a:r>
          </a:p>
        </p:txBody>
      </p:sp>
      <p:graphicFrame>
        <p:nvGraphicFramePr>
          <p:cNvPr id="77" name="表格 76"/>
          <p:cNvGraphicFramePr>
            <a:graphicFrameLocks noGrp="1"/>
          </p:cNvGraphicFramePr>
          <p:nvPr/>
        </p:nvGraphicFramePr>
        <p:xfrm>
          <a:off x="895350" y="2181225"/>
          <a:ext cx="5848350" cy="2733675"/>
        </p:xfrm>
        <a:graphic>
          <a:graphicData uri="http://schemas.openxmlformats.org/drawingml/2006/table">
            <a:tbl>
              <a:tblPr firstRow="0" bandRow="0">
</a:tblPr>
              <a:tblGrid>
                <a:gridCol w="2333625"/>
                <a:gridCol w="3514725"/>
              </a:tblGrid>
              <a:tr h="54673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HOG 设置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本次取值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输入尺寸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224 后缩放到 128 × 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方向 / 单元 / 块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9 / 16 × 16 / 2 × 2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块归一化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2B30"/>
                          </a:solidFill>
                        </a:rPr>
                        <a:t>L2-Hys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特征维数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1,764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表格 77"/>
          <p:cNvGraphicFramePr>
            <a:graphicFrameLocks noGrp="1"/>
          </p:cNvGraphicFramePr>
          <p:nvPr/>
        </p:nvGraphicFramePr>
        <p:xfrm>
          <a:off x="7191375" y="2181225"/>
          <a:ext cx="4067175" cy="2085975"/>
        </p:xfrm>
        <a:graphic>
          <a:graphicData uri="http://schemas.openxmlformats.org/drawingml/2006/table">
            <a:tbl>
              <a:tblPr firstRow="0" bandRow="0">
</a:tblPr>
              <a:tblGrid>
                <a:gridCol w="1619250"/>
                <a:gridCol w="2447925"/>
              </a:tblGrid>
              <a:tr h="521494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SVM 设置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本次取值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候选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0.001、0.01、0.1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选择依据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验证集 Macro-F1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521493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类别权重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2B30"/>
                          </a:solidFill>
                        </a:rP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误差对比：总体提升与局部不足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1" name="矩形 70"/>
          <p:cNvSpPr/>
          <p:nvPr/>
        </p:nvSpPr>
        <p:spPr>
          <a:xfrm>
            <a:off x="895350" y="1476375"/>
            <a:ext cx="5429250" cy="36195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典型误分方向（张）</a:t>
            </a:r>
          </a:p>
        </p:txBody>
      </p:sp>
      <p:graphicFrame>
        <p:nvGraphicFramePr>
          <p:cNvPr id="72" name="表格 71"/>
          <p:cNvGraphicFramePr>
            <a:graphicFrameLocks noGrp="1"/>
          </p:cNvGraphicFramePr>
          <p:nvPr/>
        </p:nvGraphicFramePr>
        <p:xfrm>
          <a:off x="895350" y="2009775"/>
          <a:ext cx="5924550" cy="2781300"/>
        </p:xfrm>
        <a:graphic>
          <a:graphicData uri="http://schemas.openxmlformats.org/drawingml/2006/table">
            <a:tbl>
              <a:tblPr firstRow="0" bandRow="0">
</a:tblPr>
              <a:tblGrid>
                <a:gridCol w="3829049"/>
                <a:gridCol w="838201"/>
                <a:gridCol w="1257300"/>
              </a:tblGrid>
              <a:tr h="55626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</a:rPr>
                        <a:t>真实家族 → 预测家族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SVM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ResNet18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/>
                      <a:r>
                        <a:rPr lang="en-US" sz="1500" b="0">
                          <a:solidFill>
                            <a:srgbClr val="262B30"/>
                          </a:solidFill>
                        </a:rPr>
                        <a:t>Swizzor.gen!E → Swizzor.gen!I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/>
                      <a:r>
                        <a:rPr lang="en-US" sz="1500" b="0">
                          <a:solidFill>
                            <a:srgbClr val="262B30"/>
                          </a:solidFill>
                        </a:rPr>
                        <a:t>Swizzor.gen!I → Swizzor.gen!E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/>
                      <a:r>
                        <a:rPr lang="en-US" sz="1500" b="0">
                          <a:solidFill>
                            <a:srgbClr val="262B30"/>
                          </a:solidFill>
                        </a:rPr>
                        <a:t>C2LOP.gen!g → C2LOP.P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/>
                      <a:r>
                        <a:rPr lang="en-US" sz="1500" b="0">
                          <a:solidFill>
                            <a:srgbClr val="262B30"/>
                          </a:solidFill>
                        </a:rPr>
                        <a:t>Allaple.L → Allaple.A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3" name="矩形 72"/>
          <p:cNvSpPr/>
          <p:nvPr/>
        </p:nvSpPr>
        <p:spPr>
          <a:xfrm>
            <a:off x="7181850" y="1476375"/>
            <a:ext cx="4095750" cy="36195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ResNet18：Swizzor E / I</a:t>
            </a:r>
          </a:p>
        </p:txBody>
      </p:sp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7181850" y="2009775"/>
          <a:ext cx="4095750" cy="1714500"/>
        </p:xfrm>
        <a:graphic>
          <a:graphicData uri="http://schemas.openxmlformats.org/drawingml/2006/table">
            <a:tbl>
              <a:tblPr firstRow="0" bandRow="0">
</a:tblPr>
              <a:tblGrid>
                <a:gridCol w="1619250"/>
                <a:gridCol w="819150"/>
                <a:gridCol w="819150"/>
                <a:gridCol w="838200"/>
              </a:tblGrid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</a:rPr>
                        <a:t>真实家族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</a:rPr>
                        <a:t>预测 E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</a:rPr>
                        <a:t>预测 I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</a:rPr>
                        <a:t>其他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E（19 张）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I（20 张）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2B3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5" name="矩形 74"/>
          <p:cNvSpPr/>
          <p:nvPr/>
        </p:nvSpPr>
        <p:spPr>
          <a:xfrm>
            <a:off x="7181850" y="3981450"/>
            <a:ext cx="4095750" cy="781050"/>
          </a:xfrm>
          <a:prstGeom prst="rect">
            <a:avLst/>
          </a:prstGeom>
          <a:noFill/>
          <a:ln>
            <a:noFill/>
          </a:ln>
        </p:spPr>
        <p:txBody>
          <a:bodyPr wrap="none" lIns="91440" tIns="58420" rIns="0" bIns="0" anchor="t" anchorCtr="0">
            <a:noAutofit/>
          </a:bodyPr>
          <a:lstStyle/>
          <a:p>
            <a:pPr algn="l">
              <a:lnSpc>
                <a:spcPts val="1980"/>
              </a:lnSpc>
            </a:pPr>
            <a:r>
              <a:rPr lang="zh-CN" sz="165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 xml:space="preserve">E 召回率：52.6%   I 召回率：65.0%</a:t>
            </a:r>
          </a:p>
          <a:p>
            <a:pPr algn="l">
              <a:lnSpc>
                <a:spcPts val="1980"/>
              </a:lnSpc>
            </a:pPr>
            <a:r>
              <a:rPr lang="zh-CN" sz="165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“其他”1 张判为 C2LOP.gen!g。</a:t>
            </a:r>
          </a:p>
        </p:txBody>
      </p:sp>
      <p:sp>
        <p:nvSpPr>
          <p:cNvPr id="76" name="矩形 75"/>
          <p:cNvSpPr/>
          <p:nvPr/>
        </p:nvSpPr>
        <p:spPr>
          <a:xfrm>
            <a:off x="895350" y="5143500"/>
            <a:ext cx="10382250" cy="40005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0" bIns="0" anchor="t" anchorCtr="0">
            <a:noAutofit/>
          </a:bodyPr>
          <a:lstStyle/>
          <a:p>
            <a:pPr algn="l"/>
            <a:r>
              <a:rPr lang="zh-CN" sz="210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总体成绩更高，但并非每个误分方向都改善。</a:t>
            </a:r>
          </a:p>
        </p:txBody>
      </p:sp>
      <p:sp>
        <p:nvSpPr>
          <p:cNvPr id="77" name="矩形 76"/>
          <p:cNvSpPr/>
          <p:nvPr/>
        </p:nvSpPr>
        <p:spPr>
          <a:xfrm>
            <a:off x="895350" y="5629275"/>
            <a:ext cx="10382250" cy="76200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0" bIns="0" anchor="t" anchorCtr="0">
            <a:noAutofit/>
          </a:bodyPr>
          <a:lstStyle/>
          <a:p>
            <a:pPr algn="l">
              <a:lnSpc>
                <a:spcPts val="2160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ResNet18 中 E、I 互相误分 15 张，占全部 21 个错误的 71.4%。</a:t>
            </a:r>
          </a:p>
          <a:p>
            <a:pPr algn="l">
              <a:lnSpc>
                <a:spcPts val="2160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下一步优先检查这两类的近似样本及区分特征。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模型保存与单张图片预测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504950"/>
            <a:ext cx="84010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示例来自测试集，原始尺寸为 64 × 257。</a:t>
            </a:r>
          </a:p>
        </p:txBody>
      </p:sp>
      <p:graphicFrame>
        <p:nvGraphicFramePr>
          <p:cNvPr id="72" name="表格 71"/>
          <p:cNvGraphicFramePr>
            <a:graphicFrameLocks noGrp="1"/>
          </p:cNvGraphicFramePr>
          <p:nvPr/>
        </p:nvGraphicFramePr>
        <p:xfrm>
          <a:off x="895350" y="2133600"/>
          <a:ext cx="8077200" cy="2114550"/>
        </p:xfrm>
        <a:graphic>
          <a:graphicData uri="http://schemas.openxmlformats.org/drawingml/2006/table">
            <a:tbl>
              <a:tblPr firstRow="0" bandRow="0">
</a:tblPr>
              <a:tblGrid>
                <a:gridCol w="3905250"/>
                <a:gridCol w="4171950"/>
              </a:tblGrid>
              <a:tr h="528638"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标签或预测第一名</a:t>
                      </a:r>
                    </a:p>
                  </a:txBody>
                  <a:tcPr anchor="ctr" marL="123825" marR="123825" marT="85725" marB="85725">
                    <a:solidFill>
                      <a:srgbClr val="24466B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真实家族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Agent.FYI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HOG + SVM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Agent.FYI</a:t>
                      </a:r>
                    </a:p>
                  </a:txBody>
                  <a:tcPr anchor="ctr" marL="123825" marR="123825" marT="85725" marB="85725">
                    <a:solidFill>
                      <a:srgbClr val="F3F5F7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lang="zh-CN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ResNet18 + 分类层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262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Agent.FYI</a:t>
                      </a:r>
                    </a:p>
                  </a:txBody>
                  <a:tcPr anchor="ctr" marL="123825" marR="123825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text-8"/>
          <p:cNvSpPr/>
          <p:nvPr/>
        </p:nvSpPr>
        <p:spPr>
          <a:xfrm>
            <a:off x="895350" y="4514850"/>
            <a:ext cx="821055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12700" rIns="0" bIns="0" anchor="t" anchorCtr="0">
            <a:noAutofit/>
          </a:bodyPr>
          <a:lstStyle/>
          <a:p>
            <a:pPr algn="l">
              <a:lnSpc>
                <a:spcPts val="2588"/>
              </a:lnSpc>
            </a:pPr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模型文件：hog_svm.joblib、resnet18_head.pt</a:t>
            </a:r>
          </a:p>
          <a:p>
            <a:pPr algn="l">
              <a:lnSpc>
                <a:spcPts val="2588"/>
              </a:lnSpc>
            </a:pPr>
            <a:r>
              <a:rPr lang="zh-CN" sz="188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两种方法还分别保存了特征、标签和划分信息。</a:t>
            </a:r>
          </a:p>
        </p:txBody>
      </p:sp>
      <p:sp>
        <p:nvSpPr>
          <p:cNvPr id="74" name="text-9"/>
          <p:cNvSpPr/>
          <p:nvPr/>
        </p:nvSpPr>
        <p:spPr>
          <a:xfrm>
            <a:off x="895350" y="5534025"/>
            <a:ext cx="103822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在项目根目录运行</a:t>
            </a:r>
          </a:p>
        </p:txBody>
      </p:sp>
      <p:sp>
        <p:nvSpPr>
          <p:cNvPr id="75" name="text-10"/>
          <p:cNvSpPr/>
          <p:nvPr/>
        </p:nvSpPr>
        <p:spPr>
          <a:xfrm>
            <a:off x="895350" y="5953125"/>
            <a:ext cx="104775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966"/>
              </a:lnSpc>
            </a:pPr>
            <a:r>
              <a:rPr lang="en-US" sz="1420" dirty="0">
                <a:solidFill>
                  <a:srgbClr val="262B30"/>
                </a:solidFill>
                <a:latin typeface="Consolas"/>
                <a:ea typeface="Consolas"/>
                <a:cs typeface="Consolas"/>
              </a:rPr>
              <a:t>python src/predict.py examples/malimg_test_sample.png --model svm</a:t>
            </a:r>
          </a:p>
          <a:p>
            <a:pPr algn="l">
              <a:lnSpc>
                <a:spcPts val="1966"/>
              </a:lnSpc>
            </a:pPr>
            <a:r>
              <a:rPr lang="en-US" sz="1420" dirty="0">
                <a:solidFill>
                  <a:srgbClr val="262B30"/>
                </a:solidFill>
                <a:latin typeface="Consolas"/>
                <a:ea typeface="Consolas"/>
                <a:cs typeface="Consolas"/>
              </a:rPr>
              <a:t>python src/predict.py examples/malimg_test_sample.png --model resnet18</a:t>
            </a:r>
          </a:p>
        </p:txBody>
      </p:sp>
      <p:grpSp>
        <p:nvGrpSpPr>
          <p:cNvPr id="10" name="图片 75"/>
          <p:cNvGrpSpPr/>
          <p:nvPr/>
        </p:nvGrpSpPr>
        <p:grpSpPr>
          <a:xfrm>
            <a:off x="9601200" y="1859566"/>
            <a:ext cx="942975" cy="3786664"/>
            <a:chOff x="9601200" y="1859566"/>
            <a:chExt cx="942975" cy="3786664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01200" y="1859566"/>
              <a:ext cx="942975" cy="3786664"/>
            </a:xfrm>
            <a:prstGeom prst="rect">
              <a:avLst/>
            </a:prstGeom>
          </p:spPr>
        </p:pic>
      </p:grpSp>
      <p:sp>
        <p:nvSpPr>
          <p:cNvPr id="77" name="text-11"/>
          <p:cNvSpPr/>
          <p:nvPr/>
        </p:nvSpPr>
        <p:spPr>
          <a:xfrm>
            <a:off x="9201150" y="5724525"/>
            <a:ext cx="18002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ctr"/>
            <a:r>
              <a:rPr lang="zh-CN" sz="165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原始灰度图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: 圆角 8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33" name="矩形: 圆角 32"/>
          <p:cNvSpPr/>
          <p:nvPr/>
        </p:nvSpPr>
        <p:spPr>
          <a:xfrm>
            <a:off x="8810625" y="914400"/>
            <a:ext cx="1352550" cy="45720"/>
          </a:xfrm>
          <a:prstGeom prst="roundRect">
            <a:avLst>
              <a:gd name="adj" fmla="val 50000"/>
            </a:avLst>
          </a:prstGeom>
          <a:solidFill>
            <a:srgbClr val="2446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slide-title"/>
          <p:cNvSpPr/>
          <p:nvPr/>
        </p:nvSpPr>
        <p:spPr>
          <a:xfrm>
            <a:off x="838200" y="571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实验结论与适用范围</a:t>
            </a:r>
          </a:p>
        </p:txBody>
      </p:sp>
      <p:sp>
        <p:nvSpPr>
          <p:cNvPr id="70" name="page-number"/>
          <p:cNvSpPr/>
          <p:nvPr/>
        </p:nvSpPr>
        <p:spPr>
          <a:xfrm>
            <a:off x="10382250" y="447675"/>
            <a:ext cx="1066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381000" rIns="0" bIns="0" anchor="t" anchorCtr="0">
            <a:noAutofit/>
          </a:bodyPr>
          <a:lstStyle/>
          <a:p>
            <a:pPr algn="r"/>
            <a:r>
              <a:rPr lang="zh-CN" sz="180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1" name="text-7"/>
          <p:cNvSpPr/>
          <p:nvPr/>
        </p:nvSpPr>
        <p:spPr>
          <a:xfrm>
            <a:off x="895350" y="1543050"/>
            <a:ext cx="103822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202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本次完成与主要结论</a:t>
            </a:r>
          </a:p>
        </p:txBody>
      </p:sp>
      <p:sp>
        <p:nvSpPr>
          <p:cNvPr id="72" name="text-8"/>
          <p:cNvSpPr/>
          <p:nvPr/>
        </p:nvSpPr>
        <p:spPr>
          <a:xfrm>
            <a:off x="895350" y="1952625"/>
            <a:ext cx="1038225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完成字节转换与还原、像素去重、固定划分、两种模型训练与测试。</a:t>
            </a:r>
          </a:p>
          <a:p>
            <a:pPr algn="l">
              <a:lnSpc>
                <a:spcPts val="2484"/>
              </a:lnSpc>
            </a:pPr>
            <a:r>
              <a:rPr lang="zh-CN" sz="1800" dirty="0">
                <a:solidFill>
                  <a:srgbClr val="262B30"/>
                </a:solidFill>
                <a:latin typeface="Microsoft YaHei"/>
                <a:ea typeface="Microsoft YaHei"/>
                <a:cs typeface="Microsoft YaHei"/>
              </a:rPr>
              <a:t>保存模型与特征，并展示单图预测。</a:t>
            </a:r>
          </a:p>
        </p:txBody>
      </p:sp>
      <p:sp>
        <p:nvSpPr>
          <p:cNvPr id="73" name="text-9"/>
          <p:cNvSpPr/>
          <p:nvPr/>
        </p:nvSpPr>
        <p:spPr>
          <a:xfrm>
            <a:off x="895350" y="2781300"/>
            <a:ext cx="1038225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691"/>
              </a:lnSpc>
            </a:pPr>
            <a:r>
              <a:rPr lang="zh-CN" sz="19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本次 23 类实验中，冻结 ResNet18 + 分类层的 Macro-F1 更高。</a:t>
            </a:r>
          </a:p>
          <a:p>
            <a:pPr algn="l">
              <a:lnSpc>
                <a:spcPts val="2691"/>
              </a:lnSpc>
            </a:pPr>
            <a:r>
              <a:rPr lang="zh-CN" sz="1950" b="1" dirty="0">
                <a:solidFill>
                  <a:srgbClr val="24466B"/>
                </a:solidFill>
                <a:latin typeface="Microsoft YaHei"/>
                <a:ea typeface="Microsoft YaHei"/>
                <a:cs typeface="Microsoft YaHei"/>
              </a:rPr>
              <a:t>该结果来自单次划分，部分家族仍存在明显混淆。</a:t>
            </a:r>
          </a:p>
        </p:txBody>
      </p:sp>
      <p:sp>
        <p:nvSpPr>
          <p:cNvPr id="75" name="text-10"/>
          <p:cNvSpPr/>
          <p:nvPr/>
        </p:nvSpPr>
        <p:spPr>
          <a:xfrm>
            <a:off x="895350" y="61531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65717E"/>
                </a:solidFill>
                <a:latin typeface="Microsoft YaHei"/>
                <a:ea typeface="Microsoft YaHei"/>
                <a:cs typeface="Microsoft YaHei"/>
              </a:rPr>
              <a:t>尚未验证正常 / 恶意判断、未知家族识别及跨数据源泛化能力。</a:t>
            </a:r>
          </a:p>
        </p:txBody>
      </p:sp>
      <p:graphicFrame>
        <p:nvGraphicFramePr>
          <p:cNvPr id="76" name="表格 75"/>
          <p:cNvGraphicFramePr>
            <a:graphicFrameLocks noGrp="1"/>
          </p:cNvGraphicFramePr>
          <p:nvPr/>
        </p:nvGraphicFramePr>
        <p:xfrm>
          <a:off x="895350" y="3752850"/>
          <a:ext cx="10382250" cy="2114550"/>
        </p:xfrm>
        <a:graphic>
          <a:graphicData uri="http://schemas.openxmlformats.org/drawingml/2006/table">
            <a:tbl>
              <a:tblPr firstRow="0" bandRow="0">
</a:tblPr>
              <a:tblGrid>
                <a:gridCol w="5143500"/>
                <a:gridCol w="5238750"/>
              </a:tblGrid>
              <a:tr h="5286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当前不足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</a:rPr>
                        <a:t>后续验证</a:t>
                      </a:r>
                    </a:p>
                  </a:txBody>
                  <a:tcPr>
                    <a:solidFill>
                      <a:srgbClr val="24466B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只有恶意样本，且仅评估 23 个已知家族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补充正常样本，另行验证二分类与未知家族识别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同一来源、单次随机划分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多种子重复实验，并开展时间划分或外部验证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完全去重后仍可能存在近似样本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2B30"/>
                          </a:solidFill>
                        </a:rPr>
                        <a:t>检查近重复与同源变种，尝试受控的骨干微调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EFDF"/>
      </a:accent1>
      <a:accent2>
        <a:srgbClr val="00B07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7">
      <a:majorFont>
        <a:latin typeface="Montserrat ExtraBold"/>
        <a:ea typeface="MiSans Heavy"/>
        <a:cs typeface=""/>
      </a:majorFont>
      <a:minorFont>
        <a:latin typeface="Montserrat ExtraBold"/>
        <a:ea typeface="思源黑体 CN Light"/>
        <a:cs typeface=""/>
      </a:minorFont>
    </a:fontScheme>
    <a:fmtScheme name="自定义 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EFDF"/>
      </a:accent1>
      <a:accent2>
        <a:srgbClr val="00B07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7">
      <a:majorFont>
        <a:latin typeface="Montserrat ExtraBold"/>
        <a:ea typeface="MiSans Heavy"/>
        <a:cs typeface=""/>
      </a:majorFont>
      <a:minorFont>
        <a:latin typeface="Montserrat ExtraBold"/>
        <a:ea typeface="思源黑体 CN Light"/>
        <a:cs typeface=""/>
      </a:minorFont>
    </a:fontScheme>
    <a:fmtScheme name="自定义 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3444</Words>
  <Application>WPS 演示</Application>
  <PresentationFormat>Converted Presentation</PresentationFormat>
  <Paragraphs>526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Consolas</vt:lpstr>
      <vt:lpstr>Montserrat ExtraBold</vt:lpstr>
      <vt:lpstr>Segoe Print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曹楚晗</cp:lastModifiedBy>
  <cp:revision>1</cp:revision>
  <dcterms:created xsi:type="dcterms:W3CDTF">2026-10-09T01:17:28Z</dcterms:created>
  <dcterms:modified xsi:type="dcterms:W3CDTF">2026-10-09T01:17:28Z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53BBE56D92AF413599A350C77762C1F1_12</vt:lpwstr>
  </property>
  <property fmtid="{D5CDD505-2E9C-101B-9397-08002B2CF9AE}" pid="3" name="KSOProductBuildVer">
    <vt:lpwstr>2052-12.1.0.28505</vt:lpwstr>
  </property>
</Properties>
</file>